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835" r:id="rId4"/>
  </p:sldMasterIdLst>
  <p:notesMasterIdLst>
    <p:notesMasterId r:id="rId24"/>
  </p:notesMasterIdLst>
  <p:handoutMasterIdLst>
    <p:handoutMasterId r:id="rId25"/>
  </p:handoutMasterIdLst>
  <p:sldIdLst>
    <p:sldId id="392" r:id="rId5"/>
    <p:sldId id="394" r:id="rId6"/>
    <p:sldId id="368" r:id="rId7"/>
    <p:sldId id="370" r:id="rId8"/>
    <p:sldId id="373" r:id="rId9"/>
    <p:sldId id="381" r:id="rId10"/>
    <p:sldId id="382" r:id="rId11"/>
    <p:sldId id="383" r:id="rId12"/>
    <p:sldId id="375" r:id="rId13"/>
    <p:sldId id="376" r:id="rId14"/>
    <p:sldId id="378" r:id="rId15"/>
    <p:sldId id="389" r:id="rId16"/>
    <p:sldId id="390" r:id="rId17"/>
    <p:sldId id="391" r:id="rId18"/>
    <p:sldId id="377" r:id="rId19"/>
    <p:sldId id="385" r:id="rId20"/>
    <p:sldId id="387" r:id="rId21"/>
    <p:sldId id="380" r:id="rId22"/>
    <p:sldId id="393"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12C8C85-51F0-491E-9774-3900AFEF0FD7}"/>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816" autoAdjust="0"/>
  </p:normalViewPr>
  <p:slideViewPr>
    <p:cSldViewPr snapToGrid="0">
      <p:cViewPr varScale="1">
        <p:scale>
          <a:sx n="75" d="100"/>
          <a:sy n="75" d="100"/>
        </p:scale>
        <p:origin x="540" y="72"/>
      </p:cViewPr>
      <p:guideLst/>
    </p:cSldViewPr>
  </p:slideViewPr>
  <p:outlineViewPr>
    <p:cViewPr>
      <p:scale>
        <a:sx n="33" d="100"/>
        <a:sy n="33" d="100"/>
      </p:scale>
      <p:origin x="0" y="-10094"/>
    </p:cViewPr>
  </p:outlineViewPr>
  <p:notesTextViewPr>
    <p:cViewPr>
      <p:scale>
        <a:sx n="1" d="1"/>
        <a:sy n="1" d="1"/>
      </p:scale>
      <p:origin x="0" y="0"/>
    </p:cViewPr>
  </p:notesTextViewPr>
  <p:sorterViewPr>
    <p:cViewPr>
      <p:scale>
        <a:sx n="70" d="100"/>
        <a:sy n="70" d="100"/>
      </p:scale>
      <p:origin x="0" y="-470"/>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80D95BA-7ABD-45D4-B691-9F58B13542F8}" type="datetimeFigureOut">
              <a:rPr lang="en-US" smtClean="0"/>
              <a:t>10/22/2025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03308A-A8B4-43FF-8C57-7C15CEEAA8C3}" type="slidenum">
              <a:rPr lang="en-US" smtClean="0"/>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9D14A6-BAC8-4A71-919C-314181CF34EF}" type="datetimeFigureOut">
              <a:rPr lang="en-US" smtClean="0"/>
              <a:t>10/22/2025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2F9892-4FA8-4E47-8751-DA9332AF5A19}"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62F9892-4FA8-4E47-8751-DA9332AF5A19}" type="slidenum">
              <a:rPr lang="en-US" smtClean="0"/>
              <a:t>3</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2/3/20XX</a:t>
            </a:r>
            <a:endParaRPr lang="en-US" dirty="0"/>
          </a:p>
        </p:txBody>
      </p:sp>
      <p:sp>
        <p:nvSpPr>
          <p:cNvPr id="5" name="Footer Placeholder 4"/>
          <p:cNvSpPr>
            <a:spLocks noGrp="1"/>
          </p:cNvSpPr>
          <p:nvPr>
            <p:ph type="ftr" sz="quarter" idx="11"/>
          </p:nvPr>
        </p:nvSpPr>
        <p:spPr/>
        <p:txBody>
          <a:bodyPr/>
          <a:lstStyle/>
          <a:p>
            <a:pPr algn="ctr"/>
            <a:r>
              <a:rPr lang="en-US"/>
              <a:t>Presentation Title</a:t>
            </a:r>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60296015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2/3/20XX</a:t>
            </a:r>
            <a:endParaRPr lang="en-US" dirty="0"/>
          </a:p>
        </p:txBody>
      </p:sp>
      <p:sp>
        <p:nvSpPr>
          <p:cNvPr id="5" name="Footer Placeholder 4"/>
          <p:cNvSpPr>
            <a:spLocks noGrp="1"/>
          </p:cNvSpPr>
          <p:nvPr>
            <p:ph type="ftr" sz="quarter" idx="11"/>
          </p:nvPr>
        </p:nvSpPr>
        <p:spPr/>
        <p:txBody>
          <a:bodyPr/>
          <a:lstStyle/>
          <a:p>
            <a:pPr algn="ctr"/>
            <a:r>
              <a:rPr lang="en-US"/>
              <a:t>Presentation Title</a:t>
            </a:r>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192939219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2/3/20XX</a:t>
            </a:r>
            <a:endParaRPr lang="en-US" dirty="0"/>
          </a:p>
        </p:txBody>
      </p:sp>
      <p:sp>
        <p:nvSpPr>
          <p:cNvPr id="5" name="Footer Placeholder 4"/>
          <p:cNvSpPr>
            <a:spLocks noGrp="1"/>
          </p:cNvSpPr>
          <p:nvPr>
            <p:ph type="ftr" sz="quarter" idx="11"/>
          </p:nvPr>
        </p:nvSpPr>
        <p:spPr/>
        <p:txBody>
          <a:bodyPr/>
          <a:lstStyle/>
          <a:p>
            <a:pPr algn="ctr"/>
            <a:r>
              <a:rPr lang="en-US"/>
              <a:t>Presentation Title</a:t>
            </a:r>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8910808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2/3/20XX</a:t>
            </a:r>
            <a:endParaRPr lang="en-US" dirty="0"/>
          </a:p>
        </p:txBody>
      </p:sp>
      <p:sp>
        <p:nvSpPr>
          <p:cNvPr id="6" name="Footer Placeholder 5"/>
          <p:cNvSpPr>
            <a:spLocks noGrp="1"/>
          </p:cNvSpPr>
          <p:nvPr>
            <p:ph type="ftr" sz="quarter" idx="11"/>
          </p:nvPr>
        </p:nvSpPr>
        <p:spPr/>
        <p:txBody>
          <a:bodyPr/>
          <a:lstStyle/>
          <a:p>
            <a:pPr algn="ctr"/>
            <a:r>
              <a:rPr lang="en-US"/>
              <a:t>Presentation Title</a:t>
            </a:r>
            <a:endParaRPr lang="en-US" dirty="0"/>
          </a:p>
        </p:txBody>
      </p:sp>
      <p:sp>
        <p:nvSpPr>
          <p:cNvPr id="7" name="Slide Number Placeholder 6"/>
          <p:cNvSpPr>
            <a:spLocks noGrp="1"/>
          </p:cNvSpPr>
          <p:nvPr>
            <p:ph type="sldNum" sz="quarter" idx="12"/>
          </p:nvPr>
        </p:nvSpPr>
        <p:spPr/>
        <p:txBody>
          <a:bodyPr/>
          <a:lstStyle/>
          <a:p>
            <a:fld id="{FAEF9944-A4F6-4C59-AEBD-678D6480B8EA}" type="slidenum">
              <a:rPr lang="en-US" smtClean="0"/>
              <a:t>‹#›</a:t>
            </a:fld>
            <a:endParaRPr lang="en-US" dirty="0"/>
          </a:p>
        </p:txBody>
      </p:sp>
      <p:sp>
        <p:nvSpPr>
          <p:cNvPr id="8" name="Freeform: Shape 7">
            <a:extLst>
              <a:ext uri="{FF2B5EF4-FFF2-40B4-BE49-F238E27FC236}">
                <a16:creationId xmlns:a16="http://schemas.microsoft.com/office/drawing/2014/main" id="{49984D79-B9E8-71F3-CA6D-2257C2B701E2}"/>
              </a:ext>
            </a:extLst>
          </p:cNvPr>
          <p:cNvSpPr/>
          <p:nvPr userDrawn="1"/>
        </p:nvSpPr>
        <p:spPr>
          <a:xfrm rot="7684585">
            <a:off x="10477325" y="-112329"/>
            <a:ext cx="888696" cy="845489"/>
          </a:xfrm>
          <a:custGeom>
            <a:avLst/>
            <a:gdLst>
              <a:gd name="connsiteX0" fmla="*/ 1393873 w 2791301"/>
              <a:gd name="connsiteY0" fmla="*/ 4 h 2663436"/>
              <a:gd name="connsiteX1" fmla="*/ 1544624 w 2791301"/>
              <a:gd name="connsiteY1" fmla="*/ 7531 h 2663436"/>
              <a:gd name="connsiteX2" fmla="*/ 2114171 w 2791301"/>
              <a:gd name="connsiteY2" fmla="*/ 174340 h 2663436"/>
              <a:gd name="connsiteX3" fmla="*/ 2558937 w 2791301"/>
              <a:gd name="connsiteY3" fmla="*/ 535959 h 2663436"/>
              <a:gd name="connsiteX4" fmla="*/ 2772402 w 2791301"/>
              <a:gd name="connsiteY4" fmla="*/ 994216 h 2663436"/>
              <a:gd name="connsiteX5" fmla="*/ 2756393 w 2791301"/>
              <a:gd name="connsiteY5" fmla="*/ 1480474 h 2663436"/>
              <a:gd name="connsiteX6" fmla="*/ 2344917 w 2791301"/>
              <a:gd name="connsiteY6" fmla="*/ 2236976 h 2663436"/>
              <a:gd name="connsiteX7" fmla="*/ 2117882 w 2791301"/>
              <a:gd name="connsiteY7" fmla="*/ 2465527 h 2663436"/>
              <a:gd name="connsiteX8" fmla="*/ 1689239 w 2791301"/>
              <a:gd name="connsiteY8" fmla="*/ 2658152 h 2663436"/>
              <a:gd name="connsiteX9" fmla="*/ 1113871 w 2791301"/>
              <a:gd name="connsiteY9" fmla="*/ 2614170 h 2663436"/>
              <a:gd name="connsiteX10" fmla="*/ 996462 w 2791301"/>
              <a:gd name="connsiteY10" fmla="*/ 2596447 h 2663436"/>
              <a:gd name="connsiteX11" fmla="*/ 225377 w 2791301"/>
              <a:gd name="connsiteY11" fmla="*/ 2279322 h 2663436"/>
              <a:gd name="connsiteX12" fmla="*/ 111893 w 2791301"/>
              <a:gd name="connsiteY12" fmla="*/ 1062629 h 2663436"/>
              <a:gd name="connsiteX13" fmla="*/ 174186 w 2791301"/>
              <a:gd name="connsiteY13" fmla="*/ 867095 h 2663436"/>
              <a:gd name="connsiteX14" fmla="*/ 446468 w 2791301"/>
              <a:gd name="connsiteY14" fmla="*/ 347405 h 2663436"/>
              <a:gd name="connsiteX15" fmla="*/ 957265 w 2791301"/>
              <a:gd name="connsiteY15" fmla="*/ 63425 h 2663436"/>
              <a:gd name="connsiteX16" fmla="*/ 1393873 w 2791301"/>
              <a:gd name="connsiteY16" fmla="*/ 4 h 2663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91301" h="2663436">
                <a:moveTo>
                  <a:pt x="1393873" y="4"/>
                </a:moveTo>
                <a:cubicBezTo>
                  <a:pt x="1443777" y="115"/>
                  <a:pt x="1494056" y="2621"/>
                  <a:pt x="1544624" y="7531"/>
                </a:cubicBezTo>
                <a:cubicBezTo>
                  <a:pt x="1743470" y="26804"/>
                  <a:pt x="1940404" y="84446"/>
                  <a:pt x="2114171" y="174340"/>
                </a:cubicBezTo>
                <a:cubicBezTo>
                  <a:pt x="2292730" y="266553"/>
                  <a:pt x="2442405" y="388281"/>
                  <a:pt x="2558937" y="535959"/>
                </a:cubicBezTo>
                <a:cubicBezTo>
                  <a:pt x="2668833" y="675228"/>
                  <a:pt x="2740611" y="829411"/>
                  <a:pt x="2772402" y="994216"/>
                </a:cubicBezTo>
                <a:cubicBezTo>
                  <a:pt x="2802153" y="1148707"/>
                  <a:pt x="2796751" y="1312318"/>
                  <a:pt x="2756393" y="1480474"/>
                </a:cubicBezTo>
                <a:cubicBezTo>
                  <a:pt x="2694473" y="1738280"/>
                  <a:pt x="2551441" y="1999502"/>
                  <a:pt x="2344917" y="2236976"/>
                </a:cubicBezTo>
                <a:cubicBezTo>
                  <a:pt x="2276075" y="2316133"/>
                  <a:pt x="2200179" y="2392652"/>
                  <a:pt x="2117882" y="2465527"/>
                </a:cubicBezTo>
                <a:cubicBezTo>
                  <a:pt x="1986543" y="2581826"/>
                  <a:pt x="1854341" y="2641210"/>
                  <a:pt x="1689239" y="2658152"/>
                </a:cubicBezTo>
                <a:cubicBezTo>
                  <a:pt x="1516539" y="2675876"/>
                  <a:pt x="1320951" y="2645919"/>
                  <a:pt x="1113871" y="2614170"/>
                </a:cubicBezTo>
                <a:cubicBezTo>
                  <a:pt x="1075689" y="2608293"/>
                  <a:pt x="1036200" y="2602259"/>
                  <a:pt x="996462" y="2596447"/>
                </a:cubicBezTo>
                <a:cubicBezTo>
                  <a:pt x="640795" y="2544391"/>
                  <a:pt x="394957" y="2494225"/>
                  <a:pt x="225377" y="2279322"/>
                </a:cubicBezTo>
                <a:cubicBezTo>
                  <a:pt x="-33010" y="1951877"/>
                  <a:pt x="-66965" y="1588003"/>
                  <a:pt x="111893" y="1062629"/>
                </a:cubicBezTo>
                <a:cubicBezTo>
                  <a:pt x="135308" y="993869"/>
                  <a:pt x="155086" y="929410"/>
                  <a:pt x="174186" y="867095"/>
                </a:cubicBezTo>
                <a:cubicBezTo>
                  <a:pt x="253418" y="608767"/>
                  <a:pt x="298077" y="478805"/>
                  <a:pt x="446468" y="347405"/>
                </a:cubicBezTo>
                <a:cubicBezTo>
                  <a:pt x="593811" y="216935"/>
                  <a:pt x="765687" y="121414"/>
                  <a:pt x="957265" y="63425"/>
                </a:cubicBezTo>
                <a:cubicBezTo>
                  <a:pt x="1097834" y="20894"/>
                  <a:pt x="1244162" y="-329"/>
                  <a:pt x="1393873" y="4"/>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9" name="Freeform: Shape 8">
            <a:extLst>
              <a:ext uri="{FF2B5EF4-FFF2-40B4-BE49-F238E27FC236}">
                <a16:creationId xmlns:a16="http://schemas.microsoft.com/office/drawing/2014/main" id="{7F476936-5A75-8502-A9AB-FA86C5A81245}"/>
              </a:ext>
            </a:extLst>
          </p:cNvPr>
          <p:cNvSpPr/>
          <p:nvPr userDrawn="1"/>
        </p:nvSpPr>
        <p:spPr>
          <a:xfrm rot="7684585">
            <a:off x="10443520" y="-146205"/>
            <a:ext cx="956307" cy="913241"/>
          </a:xfrm>
          <a:custGeom>
            <a:avLst/>
            <a:gdLst>
              <a:gd name="connsiteX0" fmla="*/ 1525339 w 3040473"/>
              <a:gd name="connsiteY0" fmla="*/ 5 h 2903550"/>
              <a:gd name="connsiteX1" fmla="*/ 1689388 w 3040473"/>
              <a:gd name="connsiteY1" fmla="*/ 7465 h 2903550"/>
              <a:gd name="connsiteX2" fmla="*/ 2308491 w 3040473"/>
              <a:gd name="connsiteY2" fmla="*/ 186546 h 2903550"/>
              <a:gd name="connsiteX3" fmla="*/ 2790810 w 3040473"/>
              <a:gd name="connsiteY3" fmla="*/ 578683 h 2903550"/>
              <a:gd name="connsiteX4" fmla="*/ 3020886 w 3040473"/>
              <a:gd name="connsiteY4" fmla="*/ 1077350 h 2903550"/>
              <a:gd name="connsiteX5" fmla="*/ 3001050 w 3040473"/>
              <a:gd name="connsiteY5" fmla="*/ 1607690 h 2903550"/>
              <a:gd name="connsiteX6" fmla="*/ 2549423 w 3040473"/>
              <a:gd name="connsiteY6" fmla="*/ 2434689 h 2903550"/>
              <a:gd name="connsiteX7" fmla="*/ 2301170 w 3040473"/>
              <a:gd name="connsiteY7" fmla="*/ 2685047 h 2903550"/>
              <a:gd name="connsiteX8" fmla="*/ 1833654 w 3040473"/>
              <a:gd name="connsiteY8" fmla="*/ 2897229 h 2903550"/>
              <a:gd name="connsiteX9" fmla="*/ 1207605 w 3040473"/>
              <a:gd name="connsiteY9" fmla="*/ 2852120 h 2903550"/>
              <a:gd name="connsiteX10" fmla="*/ 1079897 w 3040473"/>
              <a:gd name="connsiteY10" fmla="*/ 2833375 h 2903550"/>
              <a:gd name="connsiteX11" fmla="*/ 242172 w 3040473"/>
              <a:gd name="connsiteY11" fmla="*/ 2491376 h 2903550"/>
              <a:gd name="connsiteX12" fmla="*/ 124682 w 3040473"/>
              <a:gd name="connsiteY12" fmla="*/ 1165145 h 2903550"/>
              <a:gd name="connsiteX13" fmla="*/ 193455 w 3040473"/>
              <a:gd name="connsiteY13" fmla="*/ 951608 h 2903550"/>
              <a:gd name="connsiteX14" fmla="*/ 492401 w 3040473"/>
              <a:gd name="connsiteY14" fmla="*/ 383541 h 2903550"/>
              <a:gd name="connsiteX15" fmla="*/ 1049792 w 3040473"/>
              <a:gd name="connsiteY15" fmla="*/ 71329 h 2903550"/>
              <a:gd name="connsiteX16" fmla="*/ 1525339 w 3040473"/>
              <a:gd name="connsiteY16" fmla="*/ 5 h 2903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40473" h="2903550">
                <a:moveTo>
                  <a:pt x="1525339" y="5"/>
                </a:moveTo>
                <a:cubicBezTo>
                  <a:pt x="1579656" y="-122"/>
                  <a:pt x="1634371" y="2362"/>
                  <a:pt x="1689388" y="7465"/>
                </a:cubicBezTo>
                <a:cubicBezTo>
                  <a:pt x="1905729" y="27497"/>
                  <a:pt x="2119799" y="89379"/>
                  <a:pt x="2308491" y="186546"/>
                </a:cubicBezTo>
                <a:cubicBezTo>
                  <a:pt x="2502388" y="286218"/>
                  <a:pt x="2664701" y="418219"/>
                  <a:pt x="2790810" y="578683"/>
                </a:cubicBezTo>
                <a:cubicBezTo>
                  <a:pt x="2909737" y="730010"/>
                  <a:pt x="2987100" y="897790"/>
                  <a:pt x="3020886" y="1077350"/>
                </a:cubicBezTo>
                <a:cubicBezTo>
                  <a:pt x="3052503" y="1245674"/>
                  <a:pt x="3045812" y="1424117"/>
                  <a:pt x="3001050" y="1607690"/>
                </a:cubicBezTo>
                <a:cubicBezTo>
                  <a:pt x="2932375" y="1889131"/>
                  <a:pt x="2775394" y="2174701"/>
                  <a:pt x="2549423" y="2434689"/>
                </a:cubicBezTo>
                <a:cubicBezTo>
                  <a:pt x="2474098" y="2521351"/>
                  <a:pt x="2391109" y="2605170"/>
                  <a:pt x="2301170" y="2685047"/>
                </a:cubicBezTo>
                <a:cubicBezTo>
                  <a:pt x="2157636" y="2812522"/>
                  <a:pt x="2013445" y="2877936"/>
                  <a:pt x="1833654" y="2897229"/>
                </a:cubicBezTo>
                <a:cubicBezTo>
                  <a:pt x="1645588" y="2917413"/>
                  <a:pt x="1432846" y="2885715"/>
                  <a:pt x="1207605" y="2852120"/>
                </a:cubicBezTo>
                <a:cubicBezTo>
                  <a:pt x="1166075" y="2845900"/>
                  <a:pt x="1123122" y="2839517"/>
                  <a:pt x="1079897" y="2833375"/>
                </a:cubicBezTo>
                <a:cubicBezTo>
                  <a:pt x="693025" y="2778372"/>
                  <a:pt x="425689" y="2724885"/>
                  <a:pt x="242172" y="2491376"/>
                </a:cubicBezTo>
                <a:cubicBezTo>
                  <a:pt x="-37449" y="2135581"/>
                  <a:pt x="-72603" y="1738947"/>
                  <a:pt x="124682" y="1165145"/>
                </a:cubicBezTo>
                <a:cubicBezTo>
                  <a:pt x="150509" y="1090046"/>
                  <a:pt x="172357" y="1019656"/>
                  <a:pt x="193455" y="951608"/>
                </a:cubicBezTo>
                <a:cubicBezTo>
                  <a:pt x="280976" y="669511"/>
                  <a:pt x="330232" y="527567"/>
                  <a:pt x="492401" y="383541"/>
                </a:cubicBezTo>
                <a:cubicBezTo>
                  <a:pt x="653425" y="240534"/>
                  <a:pt x="840979" y="135517"/>
                  <a:pt x="1049792" y="71329"/>
                </a:cubicBezTo>
                <a:cubicBezTo>
                  <a:pt x="1203007" y="24254"/>
                  <a:pt x="1362385" y="385"/>
                  <a:pt x="1525339" y="5"/>
                </a:cubicBez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0" name="Freeform: Shape 9">
            <a:extLst>
              <a:ext uri="{FF2B5EF4-FFF2-40B4-BE49-F238E27FC236}">
                <a16:creationId xmlns:a16="http://schemas.microsoft.com/office/drawing/2014/main" id="{5028FAD1-7281-94B8-B0A9-32939B418F2B}"/>
              </a:ext>
            </a:extLst>
          </p:cNvPr>
          <p:cNvSpPr/>
          <p:nvPr userDrawn="1"/>
        </p:nvSpPr>
        <p:spPr>
          <a:xfrm rot="7684585">
            <a:off x="10516156" y="-67275"/>
            <a:ext cx="811034" cy="755381"/>
          </a:xfrm>
          <a:custGeom>
            <a:avLst/>
            <a:gdLst>
              <a:gd name="connsiteX0" fmla="*/ 1283956 w 2536609"/>
              <a:gd name="connsiteY0" fmla="*/ 129 h 2390777"/>
              <a:gd name="connsiteX1" fmla="*/ 1420555 w 2536609"/>
              <a:gd name="connsiteY1" fmla="*/ 4761 h 2390777"/>
              <a:gd name="connsiteX2" fmla="*/ 1934956 w 2536609"/>
              <a:gd name="connsiteY2" fmla="*/ 146592 h 2390777"/>
              <a:gd name="connsiteX3" fmla="*/ 2333843 w 2536609"/>
              <a:gd name="connsiteY3" fmla="*/ 465224 h 2390777"/>
              <a:gd name="connsiteX4" fmla="*/ 2521826 w 2536609"/>
              <a:gd name="connsiteY4" fmla="*/ 873957 h 2390777"/>
              <a:gd name="connsiteX5" fmla="*/ 2501395 w 2536609"/>
              <a:gd name="connsiteY5" fmla="*/ 1311092 h 2390777"/>
              <a:gd name="connsiteX6" fmla="*/ 2209320 w 2536609"/>
              <a:gd name="connsiteY6" fmla="*/ 1886897 h 2390777"/>
              <a:gd name="connsiteX7" fmla="*/ 1910451 w 2536609"/>
              <a:gd name="connsiteY7" fmla="*/ 2205196 h 2390777"/>
              <a:gd name="connsiteX8" fmla="*/ 1519442 w 2536609"/>
              <a:gd name="connsiteY8" fmla="*/ 2384330 h 2390777"/>
              <a:gd name="connsiteX9" fmla="*/ 998270 w 2536609"/>
              <a:gd name="connsiteY9" fmla="*/ 2352944 h 2390777"/>
              <a:gd name="connsiteX10" fmla="*/ 892026 w 2536609"/>
              <a:gd name="connsiteY10" fmla="*/ 2338680 h 2390777"/>
              <a:gd name="connsiteX11" fmla="*/ 196712 w 2536609"/>
              <a:gd name="connsiteY11" fmla="*/ 2064638 h 2390777"/>
              <a:gd name="connsiteX12" fmla="*/ 108612 w 2536609"/>
              <a:gd name="connsiteY12" fmla="*/ 973028 h 2390777"/>
              <a:gd name="connsiteX13" fmla="*/ 167473 w 2536609"/>
              <a:gd name="connsiteY13" fmla="*/ 796459 h 2390777"/>
              <a:gd name="connsiteX14" fmla="*/ 420683 w 2536609"/>
              <a:gd name="connsiteY14" fmla="*/ 325664 h 2390777"/>
              <a:gd name="connsiteX15" fmla="*/ 887296 w 2536609"/>
              <a:gd name="connsiteY15" fmla="*/ 63284 h 2390777"/>
              <a:gd name="connsiteX16" fmla="*/ 1283956 w 2536609"/>
              <a:gd name="connsiteY16" fmla="*/ 129 h 2390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36609" h="2390777">
                <a:moveTo>
                  <a:pt x="1283956" y="129"/>
                </a:moveTo>
                <a:cubicBezTo>
                  <a:pt x="1329204" y="-477"/>
                  <a:pt x="1374764" y="1064"/>
                  <a:pt x="1420555" y="4761"/>
                </a:cubicBezTo>
                <a:cubicBezTo>
                  <a:pt x="1600623" y="19268"/>
                  <a:pt x="1778488" y="68277"/>
                  <a:pt x="1934956" y="146592"/>
                </a:cubicBezTo>
                <a:cubicBezTo>
                  <a:pt x="2095741" y="226922"/>
                  <a:pt x="2229975" y="334182"/>
                  <a:pt x="2333843" y="465224"/>
                </a:cubicBezTo>
                <a:cubicBezTo>
                  <a:pt x="2431797" y="588805"/>
                  <a:pt x="2495004" y="726327"/>
                  <a:pt x="2521826" y="873957"/>
                </a:cubicBezTo>
                <a:cubicBezTo>
                  <a:pt x="2546923" y="1012347"/>
                  <a:pt x="2540034" y="1159432"/>
                  <a:pt x="2501395" y="1311092"/>
                </a:cubicBezTo>
                <a:cubicBezTo>
                  <a:pt x="2451995" y="1504854"/>
                  <a:pt x="2351490" y="1701546"/>
                  <a:pt x="2209320" y="1886897"/>
                </a:cubicBezTo>
                <a:cubicBezTo>
                  <a:pt x="2124017" y="1998106"/>
                  <a:pt x="2023715" y="2105235"/>
                  <a:pt x="1910451" y="2205196"/>
                </a:cubicBezTo>
                <a:cubicBezTo>
                  <a:pt x="1789948" y="2311549"/>
                  <a:pt x="1669352" y="2366775"/>
                  <a:pt x="1519442" y="2384330"/>
                </a:cubicBezTo>
                <a:cubicBezTo>
                  <a:pt x="1362632" y="2402698"/>
                  <a:pt x="1185651" y="2378545"/>
                  <a:pt x="998270" y="2352944"/>
                </a:cubicBezTo>
                <a:cubicBezTo>
                  <a:pt x="963720" y="2348202"/>
                  <a:pt x="927987" y="2343340"/>
                  <a:pt x="892026" y="2338680"/>
                </a:cubicBezTo>
                <a:cubicBezTo>
                  <a:pt x="570163" y="2296934"/>
                  <a:pt x="347863" y="2255334"/>
                  <a:pt x="196712" y="2064638"/>
                </a:cubicBezTo>
                <a:cubicBezTo>
                  <a:pt x="-33594" y="1774076"/>
                  <a:pt x="-59958" y="1447611"/>
                  <a:pt x="108612" y="973028"/>
                </a:cubicBezTo>
                <a:cubicBezTo>
                  <a:pt x="130679" y="910916"/>
                  <a:pt x="149396" y="852719"/>
                  <a:pt x="167473" y="796459"/>
                </a:cubicBezTo>
                <a:cubicBezTo>
                  <a:pt x="242457" y="563228"/>
                  <a:pt x="284533" y="445824"/>
                  <a:pt x="420683" y="325664"/>
                </a:cubicBezTo>
                <a:cubicBezTo>
                  <a:pt x="555871" y="206352"/>
                  <a:pt x="712879" y="118097"/>
                  <a:pt x="887296" y="63284"/>
                </a:cubicBezTo>
                <a:cubicBezTo>
                  <a:pt x="1015273" y="23084"/>
                  <a:pt x="1148212" y="1947"/>
                  <a:pt x="1283956" y="129"/>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1" name="Freeform: Shape 10">
            <a:extLst>
              <a:ext uri="{FF2B5EF4-FFF2-40B4-BE49-F238E27FC236}">
                <a16:creationId xmlns:a16="http://schemas.microsoft.com/office/drawing/2014/main" id="{59E1CE56-819B-C5CC-7764-E39C327939E8}"/>
              </a:ext>
            </a:extLst>
          </p:cNvPr>
          <p:cNvSpPr/>
          <p:nvPr userDrawn="1"/>
        </p:nvSpPr>
        <p:spPr>
          <a:xfrm rot="7684585">
            <a:off x="10570396" y="-29948"/>
            <a:ext cx="702554" cy="680727"/>
          </a:xfrm>
          <a:custGeom>
            <a:avLst/>
            <a:gdLst>
              <a:gd name="connsiteX0" fmla="*/ 1130629 w 2233692"/>
              <a:gd name="connsiteY0" fmla="*/ 117 h 2164296"/>
              <a:gd name="connsiteX1" fmla="*/ 1250917 w 2233692"/>
              <a:gd name="connsiteY1" fmla="*/ 4310 h 2164296"/>
              <a:gd name="connsiteX2" fmla="*/ 1703887 w 2233692"/>
              <a:gd name="connsiteY2" fmla="*/ 132705 h 2164296"/>
              <a:gd name="connsiteX3" fmla="*/ 1898308 w 2233692"/>
              <a:gd name="connsiteY3" fmla="*/ 259714 h 2164296"/>
              <a:gd name="connsiteX4" fmla="*/ 2055139 w 2233692"/>
              <a:gd name="connsiteY4" fmla="*/ 421154 h 2164296"/>
              <a:gd name="connsiteX5" fmla="*/ 2220675 w 2233692"/>
              <a:gd name="connsiteY5" fmla="*/ 791167 h 2164296"/>
              <a:gd name="connsiteX6" fmla="*/ 2202684 w 2233692"/>
              <a:gd name="connsiteY6" fmla="*/ 1186890 h 2164296"/>
              <a:gd name="connsiteX7" fmla="*/ 1866035 w 2233692"/>
              <a:gd name="connsiteY7" fmla="*/ 1807489 h 2164296"/>
              <a:gd name="connsiteX8" fmla="*/ 1682309 w 2233692"/>
              <a:gd name="connsiteY8" fmla="*/ 1996296 h 2164296"/>
              <a:gd name="connsiteX9" fmla="*/ 1337994 w 2233692"/>
              <a:gd name="connsiteY9" fmla="*/ 2158461 h 2164296"/>
              <a:gd name="connsiteX10" fmla="*/ 879058 w 2233692"/>
              <a:gd name="connsiteY10" fmla="*/ 2130049 h 2164296"/>
              <a:gd name="connsiteX11" fmla="*/ 785502 w 2233692"/>
              <a:gd name="connsiteY11" fmla="*/ 2117135 h 2164296"/>
              <a:gd name="connsiteX12" fmla="*/ 173222 w 2233692"/>
              <a:gd name="connsiteY12" fmla="*/ 1869052 h 2164296"/>
              <a:gd name="connsiteX13" fmla="*/ 95641 w 2233692"/>
              <a:gd name="connsiteY13" fmla="*/ 880852 h 2164296"/>
              <a:gd name="connsiteX14" fmla="*/ 147474 w 2233692"/>
              <a:gd name="connsiteY14" fmla="*/ 721011 h 2164296"/>
              <a:gd name="connsiteX15" fmla="*/ 370446 w 2233692"/>
              <a:gd name="connsiteY15" fmla="*/ 294813 h 2164296"/>
              <a:gd name="connsiteX16" fmla="*/ 781337 w 2233692"/>
              <a:gd name="connsiteY16" fmla="*/ 57290 h 2164296"/>
              <a:gd name="connsiteX17" fmla="*/ 1130629 w 2233692"/>
              <a:gd name="connsiteY17" fmla="*/ 117 h 2164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33692" h="2164296">
                <a:moveTo>
                  <a:pt x="1130629" y="117"/>
                </a:moveTo>
                <a:cubicBezTo>
                  <a:pt x="1170474" y="-432"/>
                  <a:pt x="1210592" y="963"/>
                  <a:pt x="1250917" y="4310"/>
                </a:cubicBezTo>
                <a:cubicBezTo>
                  <a:pt x="1409478" y="17443"/>
                  <a:pt x="1566106" y="61809"/>
                  <a:pt x="1703887" y="132705"/>
                </a:cubicBezTo>
                <a:cubicBezTo>
                  <a:pt x="1774679" y="169066"/>
                  <a:pt x="1839627" y="211520"/>
                  <a:pt x="1898308" y="259714"/>
                </a:cubicBezTo>
                <a:cubicBezTo>
                  <a:pt x="1956991" y="307906"/>
                  <a:pt x="2009409" y="361840"/>
                  <a:pt x="2055139" y="421154"/>
                </a:cubicBezTo>
                <a:cubicBezTo>
                  <a:pt x="2141397" y="533028"/>
                  <a:pt x="2197055" y="657522"/>
                  <a:pt x="2220675" y="791167"/>
                </a:cubicBezTo>
                <a:cubicBezTo>
                  <a:pt x="2242774" y="916448"/>
                  <a:pt x="2236710" y="1049596"/>
                  <a:pt x="2202684" y="1186890"/>
                </a:cubicBezTo>
                <a:cubicBezTo>
                  <a:pt x="2150482" y="1397381"/>
                  <a:pt x="2033479" y="1611687"/>
                  <a:pt x="1866035" y="1807489"/>
                </a:cubicBezTo>
                <a:cubicBezTo>
                  <a:pt x="1810219" y="1872757"/>
                  <a:pt x="1748801" y="1935968"/>
                  <a:pt x="1682309" y="1996296"/>
                </a:cubicBezTo>
                <a:cubicBezTo>
                  <a:pt x="1576194" y="2092574"/>
                  <a:pt x="1470001" y="2142568"/>
                  <a:pt x="1337994" y="2158461"/>
                </a:cubicBezTo>
                <a:cubicBezTo>
                  <a:pt x="1199910" y="2175087"/>
                  <a:pt x="1044062" y="2153223"/>
                  <a:pt x="879058" y="2130049"/>
                </a:cubicBezTo>
                <a:cubicBezTo>
                  <a:pt x="848634" y="2125754"/>
                  <a:pt x="817168" y="2121353"/>
                  <a:pt x="785502" y="2117135"/>
                </a:cubicBezTo>
                <a:cubicBezTo>
                  <a:pt x="502076" y="2079344"/>
                  <a:pt x="306322" y="2041683"/>
                  <a:pt x="173222" y="1869052"/>
                </a:cubicBezTo>
                <a:cubicBezTo>
                  <a:pt x="-29583" y="1606017"/>
                  <a:pt x="-52797" y="1310477"/>
                  <a:pt x="95641" y="880852"/>
                </a:cubicBezTo>
                <a:cubicBezTo>
                  <a:pt x="115073" y="824625"/>
                  <a:pt x="131555" y="771941"/>
                  <a:pt x="147474" y="721011"/>
                </a:cubicBezTo>
                <a:cubicBezTo>
                  <a:pt x="213503" y="509874"/>
                  <a:pt x="250554" y="403591"/>
                  <a:pt x="370446" y="294813"/>
                </a:cubicBezTo>
                <a:cubicBezTo>
                  <a:pt x="489490" y="186804"/>
                  <a:pt x="627749" y="106909"/>
                  <a:pt x="781337" y="57290"/>
                </a:cubicBezTo>
                <a:cubicBezTo>
                  <a:pt x="894032" y="20897"/>
                  <a:pt x="1011095" y="1762"/>
                  <a:pt x="1130629" y="117"/>
                </a:cubicBezTo>
                <a:close/>
              </a:path>
            </a:pathLst>
          </a:custGeom>
          <a:blipFill>
            <a:blip r:embed="rId2" cstate="print">
              <a:duotone>
                <a:prstClr val="black"/>
                <a:schemeClr val="accent6">
                  <a:tint val="45000"/>
                  <a:satMod val="400000"/>
                </a:schemeClr>
              </a:duotone>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Shape 11">
            <a:extLst>
              <a:ext uri="{FF2B5EF4-FFF2-40B4-BE49-F238E27FC236}">
                <a16:creationId xmlns:a16="http://schemas.microsoft.com/office/drawing/2014/main" id="{B8D375FA-038B-102C-A206-7E658E4E3D29}"/>
              </a:ext>
            </a:extLst>
          </p:cNvPr>
          <p:cNvSpPr/>
          <p:nvPr userDrawn="1"/>
        </p:nvSpPr>
        <p:spPr>
          <a:xfrm rot="1841628">
            <a:off x="11354252" y="431135"/>
            <a:ext cx="1212988" cy="1154015"/>
          </a:xfrm>
          <a:custGeom>
            <a:avLst/>
            <a:gdLst>
              <a:gd name="connsiteX0" fmla="*/ 1393873 w 2791301"/>
              <a:gd name="connsiteY0" fmla="*/ 4 h 2663436"/>
              <a:gd name="connsiteX1" fmla="*/ 1544624 w 2791301"/>
              <a:gd name="connsiteY1" fmla="*/ 7531 h 2663436"/>
              <a:gd name="connsiteX2" fmla="*/ 2114171 w 2791301"/>
              <a:gd name="connsiteY2" fmla="*/ 174340 h 2663436"/>
              <a:gd name="connsiteX3" fmla="*/ 2558937 w 2791301"/>
              <a:gd name="connsiteY3" fmla="*/ 535959 h 2663436"/>
              <a:gd name="connsiteX4" fmla="*/ 2772402 w 2791301"/>
              <a:gd name="connsiteY4" fmla="*/ 994216 h 2663436"/>
              <a:gd name="connsiteX5" fmla="*/ 2756393 w 2791301"/>
              <a:gd name="connsiteY5" fmla="*/ 1480474 h 2663436"/>
              <a:gd name="connsiteX6" fmla="*/ 2344917 w 2791301"/>
              <a:gd name="connsiteY6" fmla="*/ 2236976 h 2663436"/>
              <a:gd name="connsiteX7" fmla="*/ 2117882 w 2791301"/>
              <a:gd name="connsiteY7" fmla="*/ 2465527 h 2663436"/>
              <a:gd name="connsiteX8" fmla="*/ 1689239 w 2791301"/>
              <a:gd name="connsiteY8" fmla="*/ 2658152 h 2663436"/>
              <a:gd name="connsiteX9" fmla="*/ 1113871 w 2791301"/>
              <a:gd name="connsiteY9" fmla="*/ 2614170 h 2663436"/>
              <a:gd name="connsiteX10" fmla="*/ 996462 w 2791301"/>
              <a:gd name="connsiteY10" fmla="*/ 2596447 h 2663436"/>
              <a:gd name="connsiteX11" fmla="*/ 225377 w 2791301"/>
              <a:gd name="connsiteY11" fmla="*/ 2279322 h 2663436"/>
              <a:gd name="connsiteX12" fmla="*/ 111893 w 2791301"/>
              <a:gd name="connsiteY12" fmla="*/ 1062629 h 2663436"/>
              <a:gd name="connsiteX13" fmla="*/ 174186 w 2791301"/>
              <a:gd name="connsiteY13" fmla="*/ 867095 h 2663436"/>
              <a:gd name="connsiteX14" fmla="*/ 446468 w 2791301"/>
              <a:gd name="connsiteY14" fmla="*/ 347405 h 2663436"/>
              <a:gd name="connsiteX15" fmla="*/ 957265 w 2791301"/>
              <a:gd name="connsiteY15" fmla="*/ 63425 h 2663436"/>
              <a:gd name="connsiteX16" fmla="*/ 1393873 w 2791301"/>
              <a:gd name="connsiteY16" fmla="*/ 4 h 2663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91301" h="2663436">
                <a:moveTo>
                  <a:pt x="1393873" y="4"/>
                </a:moveTo>
                <a:cubicBezTo>
                  <a:pt x="1443777" y="115"/>
                  <a:pt x="1494056" y="2621"/>
                  <a:pt x="1544624" y="7531"/>
                </a:cubicBezTo>
                <a:cubicBezTo>
                  <a:pt x="1743470" y="26804"/>
                  <a:pt x="1940404" y="84446"/>
                  <a:pt x="2114171" y="174340"/>
                </a:cubicBezTo>
                <a:cubicBezTo>
                  <a:pt x="2292730" y="266553"/>
                  <a:pt x="2442405" y="388281"/>
                  <a:pt x="2558937" y="535959"/>
                </a:cubicBezTo>
                <a:cubicBezTo>
                  <a:pt x="2668833" y="675228"/>
                  <a:pt x="2740611" y="829411"/>
                  <a:pt x="2772402" y="994216"/>
                </a:cubicBezTo>
                <a:cubicBezTo>
                  <a:pt x="2802153" y="1148707"/>
                  <a:pt x="2796751" y="1312318"/>
                  <a:pt x="2756393" y="1480474"/>
                </a:cubicBezTo>
                <a:cubicBezTo>
                  <a:pt x="2694473" y="1738280"/>
                  <a:pt x="2551441" y="1999502"/>
                  <a:pt x="2344917" y="2236976"/>
                </a:cubicBezTo>
                <a:cubicBezTo>
                  <a:pt x="2276075" y="2316133"/>
                  <a:pt x="2200179" y="2392652"/>
                  <a:pt x="2117882" y="2465527"/>
                </a:cubicBezTo>
                <a:cubicBezTo>
                  <a:pt x="1986543" y="2581826"/>
                  <a:pt x="1854341" y="2641210"/>
                  <a:pt x="1689239" y="2658152"/>
                </a:cubicBezTo>
                <a:cubicBezTo>
                  <a:pt x="1516539" y="2675876"/>
                  <a:pt x="1320951" y="2645919"/>
                  <a:pt x="1113871" y="2614170"/>
                </a:cubicBezTo>
                <a:cubicBezTo>
                  <a:pt x="1075689" y="2608293"/>
                  <a:pt x="1036200" y="2602259"/>
                  <a:pt x="996462" y="2596447"/>
                </a:cubicBezTo>
                <a:cubicBezTo>
                  <a:pt x="640795" y="2544391"/>
                  <a:pt x="394957" y="2494225"/>
                  <a:pt x="225377" y="2279322"/>
                </a:cubicBezTo>
                <a:cubicBezTo>
                  <a:pt x="-33010" y="1951877"/>
                  <a:pt x="-66965" y="1588003"/>
                  <a:pt x="111893" y="1062629"/>
                </a:cubicBezTo>
                <a:cubicBezTo>
                  <a:pt x="135308" y="993869"/>
                  <a:pt x="155086" y="929410"/>
                  <a:pt x="174186" y="867095"/>
                </a:cubicBezTo>
                <a:cubicBezTo>
                  <a:pt x="253418" y="608767"/>
                  <a:pt x="298077" y="478805"/>
                  <a:pt x="446468" y="347405"/>
                </a:cubicBezTo>
                <a:cubicBezTo>
                  <a:pt x="593811" y="216935"/>
                  <a:pt x="765687" y="121414"/>
                  <a:pt x="957265" y="63425"/>
                </a:cubicBezTo>
                <a:cubicBezTo>
                  <a:pt x="1097834" y="20894"/>
                  <a:pt x="1244162" y="-329"/>
                  <a:pt x="1393873" y="4"/>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93F9A085-5C05-B7B5-AC6A-28B69BADDAC8}"/>
              </a:ext>
            </a:extLst>
          </p:cNvPr>
          <p:cNvSpPr/>
          <p:nvPr userDrawn="1"/>
        </p:nvSpPr>
        <p:spPr>
          <a:xfrm rot="1841628">
            <a:off x="11308110" y="384897"/>
            <a:ext cx="1305272" cy="1246491"/>
          </a:xfrm>
          <a:custGeom>
            <a:avLst/>
            <a:gdLst>
              <a:gd name="connsiteX0" fmla="*/ 1525339 w 3040473"/>
              <a:gd name="connsiteY0" fmla="*/ 5 h 2903550"/>
              <a:gd name="connsiteX1" fmla="*/ 1689388 w 3040473"/>
              <a:gd name="connsiteY1" fmla="*/ 7465 h 2903550"/>
              <a:gd name="connsiteX2" fmla="*/ 2308491 w 3040473"/>
              <a:gd name="connsiteY2" fmla="*/ 186546 h 2903550"/>
              <a:gd name="connsiteX3" fmla="*/ 2790810 w 3040473"/>
              <a:gd name="connsiteY3" fmla="*/ 578683 h 2903550"/>
              <a:gd name="connsiteX4" fmla="*/ 3020886 w 3040473"/>
              <a:gd name="connsiteY4" fmla="*/ 1077350 h 2903550"/>
              <a:gd name="connsiteX5" fmla="*/ 3001050 w 3040473"/>
              <a:gd name="connsiteY5" fmla="*/ 1607690 h 2903550"/>
              <a:gd name="connsiteX6" fmla="*/ 2549423 w 3040473"/>
              <a:gd name="connsiteY6" fmla="*/ 2434689 h 2903550"/>
              <a:gd name="connsiteX7" fmla="*/ 2301170 w 3040473"/>
              <a:gd name="connsiteY7" fmla="*/ 2685047 h 2903550"/>
              <a:gd name="connsiteX8" fmla="*/ 1833654 w 3040473"/>
              <a:gd name="connsiteY8" fmla="*/ 2897229 h 2903550"/>
              <a:gd name="connsiteX9" fmla="*/ 1207605 w 3040473"/>
              <a:gd name="connsiteY9" fmla="*/ 2852120 h 2903550"/>
              <a:gd name="connsiteX10" fmla="*/ 1079897 w 3040473"/>
              <a:gd name="connsiteY10" fmla="*/ 2833375 h 2903550"/>
              <a:gd name="connsiteX11" fmla="*/ 242172 w 3040473"/>
              <a:gd name="connsiteY11" fmla="*/ 2491376 h 2903550"/>
              <a:gd name="connsiteX12" fmla="*/ 124682 w 3040473"/>
              <a:gd name="connsiteY12" fmla="*/ 1165145 h 2903550"/>
              <a:gd name="connsiteX13" fmla="*/ 193455 w 3040473"/>
              <a:gd name="connsiteY13" fmla="*/ 951608 h 2903550"/>
              <a:gd name="connsiteX14" fmla="*/ 492401 w 3040473"/>
              <a:gd name="connsiteY14" fmla="*/ 383541 h 2903550"/>
              <a:gd name="connsiteX15" fmla="*/ 1049792 w 3040473"/>
              <a:gd name="connsiteY15" fmla="*/ 71329 h 2903550"/>
              <a:gd name="connsiteX16" fmla="*/ 1525339 w 3040473"/>
              <a:gd name="connsiteY16" fmla="*/ 5 h 2903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40473" h="2903550">
                <a:moveTo>
                  <a:pt x="1525339" y="5"/>
                </a:moveTo>
                <a:cubicBezTo>
                  <a:pt x="1579656" y="-122"/>
                  <a:pt x="1634371" y="2362"/>
                  <a:pt x="1689388" y="7465"/>
                </a:cubicBezTo>
                <a:cubicBezTo>
                  <a:pt x="1905729" y="27497"/>
                  <a:pt x="2119799" y="89379"/>
                  <a:pt x="2308491" y="186546"/>
                </a:cubicBezTo>
                <a:cubicBezTo>
                  <a:pt x="2502388" y="286218"/>
                  <a:pt x="2664701" y="418219"/>
                  <a:pt x="2790810" y="578683"/>
                </a:cubicBezTo>
                <a:cubicBezTo>
                  <a:pt x="2909737" y="730010"/>
                  <a:pt x="2987100" y="897790"/>
                  <a:pt x="3020886" y="1077350"/>
                </a:cubicBezTo>
                <a:cubicBezTo>
                  <a:pt x="3052503" y="1245674"/>
                  <a:pt x="3045812" y="1424117"/>
                  <a:pt x="3001050" y="1607690"/>
                </a:cubicBezTo>
                <a:cubicBezTo>
                  <a:pt x="2932375" y="1889131"/>
                  <a:pt x="2775394" y="2174701"/>
                  <a:pt x="2549423" y="2434689"/>
                </a:cubicBezTo>
                <a:cubicBezTo>
                  <a:pt x="2474098" y="2521351"/>
                  <a:pt x="2391109" y="2605170"/>
                  <a:pt x="2301170" y="2685047"/>
                </a:cubicBezTo>
                <a:cubicBezTo>
                  <a:pt x="2157636" y="2812522"/>
                  <a:pt x="2013445" y="2877936"/>
                  <a:pt x="1833654" y="2897229"/>
                </a:cubicBezTo>
                <a:cubicBezTo>
                  <a:pt x="1645588" y="2917413"/>
                  <a:pt x="1432846" y="2885715"/>
                  <a:pt x="1207605" y="2852120"/>
                </a:cubicBezTo>
                <a:cubicBezTo>
                  <a:pt x="1166075" y="2845900"/>
                  <a:pt x="1123122" y="2839517"/>
                  <a:pt x="1079897" y="2833375"/>
                </a:cubicBezTo>
                <a:cubicBezTo>
                  <a:pt x="693025" y="2778372"/>
                  <a:pt x="425689" y="2724885"/>
                  <a:pt x="242172" y="2491376"/>
                </a:cubicBezTo>
                <a:cubicBezTo>
                  <a:pt x="-37449" y="2135581"/>
                  <a:pt x="-72603" y="1738947"/>
                  <a:pt x="124682" y="1165145"/>
                </a:cubicBezTo>
                <a:cubicBezTo>
                  <a:pt x="150509" y="1090046"/>
                  <a:pt x="172357" y="1019656"/>
                  <a:pt x="193455" y="951608"/>
                </a:cubicBezTo>
                <a:cubicBezTo>
                  <a:pt x="280976" y="669511"/>
                  <a:pt x="330232" y="527567"/>
                  <a:pt x="492401" y="383541"/>
                </a:cubicBezTo>
                <a:cubicBezTo>
                  <a:pt x="653425" y="240534"/>
                  <a:pt x="840979" y="135517"/>
                  <a:pt x="1049792" y="71329"/>
                </a:cubicBezTo>
                <a:cubicBezTo>
                  <a:pt x="1203007" y="24254"/>
                  <a:pt x="1362385" y="385"/>
                  <a:pt x="1525339" y="5"/>
                </a:cubicBez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F1D02343-E031-FD52-3C9C-A9F8A02C781E}"/>
              </a:ext>
            </a:extLst>
          </p:cNvPr>
          <p:cNvSpPr/>
          <p:nvPr userDrawn="1"/>
        </p:nvSpPr>
        <p:spPr>
          <a:xfrm rot="1841628">
            <a:off x="11407252" y="492629"/>
            <a:ext cx="1106988" cy="1031027"/>
          </a:xfrm>
          <a:custGeom>
            <a:avLst/>
            <a:gdLst>
              <a:gd name="connsiteX0" fmla="*/ 1283956 w 2536609"/>
              <a:gd name="connsiteY0" fmla="*/ 129 h 2390777"/>
              <a:gd name="connsiteX1" fmla="*/ 1420555 w 2536609"/>
              <a:gd name="connsiteY1" fmla="*/ 4761 h 2390777"/>
              <a:gd name="connsiteX2" fmla="*/ 1934956 w 2536609"/>
              <a:gd name="connsiteY2" fmla="*/ 146592 h 2390777"/>
              <a:gd name="connsiteX3" fmla="*/ 2333843 w 2536609"/>
              <a:gd name="connsiteY3" fmla="*/ 465224 h 2390777"/>
              <a:gd name="connsiteX4" fmla="*/ 2521826 w 2536609"/>
              <a:gd name="connsiteY4" fmla="*/ 873957 h 2390777"/>
              <a:gd name="connsiteX5" fmla="*/ 2501395 w 2536609"/>
              <a:gd name="connsiteY5" fmla="*/ 1311092 h 2390777"/>
              <a:gd name="connsiteX6" fmla="*/ 2209320 w 2536609"/>
              <a:gd name="connsiteY6" fmla="*/ 1886897 h 2390777"/>
              <a:gd name="connsiteX7" fmla="*/ 1910451 w 2536609"/>
              <a:gd name="connsiteY7" fmla="*/ 2205196 h 2390777"/>
              <a:gd name="connsiteX8" fmla="*/ 1519442 w 2536609"/>
              <a:gd name="connsiteY8" fmla="*/ 2384330 h 2390777"/>
              <a:gd name="connsiteX9" fmla="*/ 998270 w 2536609"/>
              <a:gd name="connsiteY9" fmla="*/ 2352944 h 2390777"/>
              <a:gd name="connsiteX10" fmla="*/ 892026 w 2536609"/>
              <a:gd name="connsiteY10" fmla="*/ 2338680 h 2390777"/>
              <a:gd name="connsiteX11" fmla="*/ 196712 w 2536609"/>
              <a:gd name="connsiteY11" fmla="*/ 2064638 h 2390777"/>
              <a:gd name="connsiteX12" fmla="*/ 108612 w 2536609"/>
              <a:gd name="connsiteY12" fmla="*/ 973028 h 2390777"/>
              <a:gd name="connsiteX13" fmla="*/ 167473 w 2536609"/>
              <a:gd name="connsiteY13" fmla="*/ 796459 h 2390777"/>
              <a:gd name="connsiteX14" fmla="*/ 420683 w 2536609"/>
              <a:gd name="connsiteY14" fmla="*/ 325664 h 2390777"/>
              <a:gd name="connsiteX15" fmla="*/ 887296 w 2536609"/>
              <a:gd name="connsiteY15" fmla="*/ 63284 h 2390777"/>
              <a:gd name="connsiteX16" fmla="*/ 1283956 w 2536609"/>
              <a:gd name="connsiteY16" fmla="*/ 129 h 2390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36609" h="2390777">
                <a:moveTo>
                  <a:pt x="1283956" y="129"/>
                </a:moveTo>
                <a:cubicBezTo>
                  <a:pt x="1329204" y="-477"/>
                  <a:pt x="1374764" y="1064"/>
                  <a:pt x="1420555" y="4761"/>
                </a:cubicBezTo>
                <a:cubicBezTo>
                  <a:pt x="1600623" y="19268"/>
                  <a:pt x="1778488" y="68277"/>
                  <a:pt x="1934956" y="146592"/>
                </a:cubicBezTo>
                <a:cubicBezTo>
                  <a:pt x="2095741" y="226922"/>
                  <a:pt x="2229975" y="334182"/>
                  <a:pt x="2333843" y="465224"/>
                </a:cubicBezTo>
                <a:cubicBezTo>
                  <a:pt x="2431797" y="588805"/>
                  <a:pt x="2495004" y="726327"/>
                  <a:pt x="2521826" y="873957"/>
                </a:cubicBezTo>
                <a:cubicBezTo>
                  <a:pt x="2546923" y="1012347"/>
                  <a:pt x="2540034" y="1159432"/>
                  <a:pt x="2501395" y="1311092"/>
                </a:cubicBezTo>
                <a:cubicBezTo>
                  <a:pt x="2451995" y="1504854"/>
                  <a:pt x="2351490" y="1701546"/>
                  <a:pt x="2209320" y="1886897"/>
                </a:cubicBezTo>
                <a:cubicBezTo>
                  <a:pt x="2124017" y="1998106"/>
                  <a:pt x="2023715" y="2105235"/>
                  <a:pt x="1910451" y="2205196"/>
                </a:cubicBezTo>
                <a:cubicBezTo>
                  <a:pt x="1789948" y="2311549"/>
                  <a:pt x="1669352" y="2366775"/>
                  <a:pt x="1519442" y="2384330"/>
                </a:cubicBezTo>
                <a:cubicBezTo>
                  <a:pt x="1362632" y="2402698"/>
                  <a:pt x="1185651" y="2378545"/>
                  <a:pt x="998270" y="2352944"/>
                </a:cubicBezTo>
                <a:cubicBezTo>
                  <a:pt x="963720" y="2348202"/>
                  <a:pt x="927987" y="2343340"/>
                  <a:pt x="892026" y="2338680"/>
                </a:cubicBezTo>
                <a:cubicBezTo>
                  <a:pt x="570163" y="2296934"/>
                  <a:pt x="347863" y="2255334"/>
                  <a:pt x="196712" y="2064638"/>
                </a:cubicBezTo>
                <a:cubicBezTo>
                  <a:pt x="-33594" y="1774076"/>
                  <a:pt x="-59958" y="1447611"/>
                  <a:pt x="108612" y="973028"/>
                </a:cubicBezTo>
                <a:cubicBezTo>
                  <a:pt x="130679" y="910916"/>
                  <a:pt x="149396" y="852719"/>
                  <a:pt x="167473" y="796459"/>
                </a:cubicBezTo>
                <a:cubicBezTo>
                  <a:pt x="242457" y="563228"/>
                  <a:pt x="284533" y="445824"/>
                  <a:pt x="420683" y="325664"/>
                </a:cubicBezTo>
                <a:cubicBezTo>
                  <a:pt x="555871" y="206352"/>
                  <a:pt x="712879" y="118097"/>
                  <a:pt x="887296" y="63284"/>
                </a:cubicBezTo>
                <a:cubicBezTo>
                  <a:pt x="1015273" y="23084"/>
                  <a:pt x="1148212" y="1947"/>
                  <a:pt x="1283956" y="129"/>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5" name="Freeform: Shape 14">
            <a:extLst>
              <a:ext uri="{FF2B5EF4-FFF2-40B4-BE49-F238E27FC236}">
                <a16:creationId xmlns:a16="http://schemas.microsoft.com/office/drawing/2014/main" id="{171CA935-5F02-713B-AA6C-366387B9FF49}"/>
              </a:ext>
            </a:extLst>
          </p:cNvPr>
          <p:cNvSpPr/>
          <p:nvPr userDrawn="1"/>
        </p:nvSpPr>
        <p:spPr>
          <a:xfrm rot="1841628">
            <a:off x="11481286" y="543577"/>
            <a:ext cx="958921" cy="929130"/>
          </a:xfrm>
          <a:custGeom>
            <a:avLst/>
            <a:gdLst>
              <a:gd name="connsiteX0" fmla="*/ 1130629 w 2233692"/>
              <a:gd name="connsiteY0" fmla="*/ 117 h 2164296"/>
              <a:gd name="connsiteX1" fmla="*/ 1250917 w 2233692"/>
              <a:gd name="connsiteY1" fmla="*/ 4310 h 2164296"/>
              <a:gd name="connsiteX2" fmla="*/ 1703887 w 2233692"/>
              <a:gd name="connsiteY2" fmla="*/ 132705 h 2164296"/>
              <a:gd name="connsiteX3" fmla="*/ 1898308 w 2233692"/>
              <a:gd name="connsiteY3" fmla="*/ 259714 h 2164296"/>
              <a:gd name="connsiteX4" fmla="*/ 2055139 w 2233692"/>
              <a:gd name="connsiteY4" fmla="*/ 421154 h 2164296"/>
              <a:gd name="connsiteX5" fmla="*/ 2220675 w 2233692"/>
              <a:gd name="connsiteY5" fmla="*/ 791167 h 2164296"/>
              <a:gd name="connsiteX6" fmla="*/ 2202684 w 2233692"/>
              <a:gd name="connsiteY6" fmla="*/ 1186890 h 2164296"/>
              <a:gd name="connsiteX7" fmla="*/ 1866035 w 2233692"/>
              <a:gd name="connsiteY7" fmla="*/ 1807489 h 2164296"/>
              <a:gd name="connsiteX8" fmla="*/ 1682309 w 2233692"/>
              <a:gd name="connsiteY8" fmla="*/ 1996296 h 2164296"/>
              <a:gd name="connsiteX9" fmla="*/ 1337994 w 2233692"/>
              <a:gd name="connsiteY9" fmla="*/ 2158461 h 2164296"/>
              <a:gd name="connsiteX10" fmla="*/ 879058 w 2233692"/>
              <a:gd name="connsiteY10" fmla="*/ 2130049 h 2164296"/>
              <a:gd name="connsiteX11" fmla="*/ 785502 w 2233692"/>
              <a:gd name="connsiteY11" fmla="*/ 2117135 h 2164296"/>
              <a:gd name="connsiteX12" fmla="*/ 173222 w 2233692"/>
              <a:gd name="connsiteY12" fmla="*/ 1869052 h 2164296"/>
              <a:gd name="connsiteX13" fmla="*/ 95641 w 2233692"/>
              <a:gd name="connsiteY13" fmla="*/ 880852 h 2164296"/>
              <a:gd name="connsiteX14" fmla="*/ 147474 w 2233692"/>
              <a:gd name="connsiteY14" fmla="*/ 721011 h 2164296"/>
              <a:gd name="connsiteX15" fmla="*/ 370446 w 2233692"/>
              <a:gd name="connsiteY15" fmla="*/ 294813 h 2164296"/>
              <a:gd name="connsiteX16" fmla="*/ 781337 w 2233692"/>
              <a:gd name="connsiteY16" fmla="*/ 57290 h 2164296"/>
              <a:gd name="connsiteX17" fmla="*/ 1130629 w 2233692"/>
              <a:gd name="connsiteY17" fmla="*/ 117 h 2164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33692" h="2164296">
                <a:moveTo>
                  <a:pt x="1130629" y="117"/>
                </a:moveTo>
                <a:cubicBezTo>
                  <a:pt x="1170474" y="-432"/>
                  <a:pt x="1210592" y="963"/>
                  <a:pt x="1250917" y="4310"/>
                </a:cubicBezTo>
                <a:cubicBezTo>
                  <a:pt x="1409478" y="17443"/>
                  <a:pt x="1566106" y="61809"/>
                  <a:pt x="1703887" y="132705"/>
                </a:cubicBezTo>
                <a:cubicBezTo>
                  <a:pt x="1774679" y="169066"/>
                  <a:pt x="1839627" y="211520"/>
                  <a:pt x="1898308" y="259714"/>
                </a:cubicBezTo>
                <a:cubicBezTo>
                  <a:pt x="1956991" y="307906"/>
                  <a:pt x="2009409" y="361840"/>
                  <a:pt x="2055139" y="421154"/>
                </a:cubicBezTo>
                <a:cubicBezTo>
                  <a:pt x="2141397" y="533028"/>
                  <a:pt x="2197055" y="657522"/>
                  <a:pt x="2220675" y="791167"/>
                </a:cubicBezTo>
                <a:cubicBezTo>
                  <a:pt x="2242774" y="916448"/>
                  <a:pt x="2236710" y="1049596"/>
                  <a:pt x="2202684" y="1186890"/>
                </a:cubicBezTo>
                <a:cubicBezTo>
                  <a:pt x="2150482" y="1397381"/>
                  <a:pt x="2033479" y="1611687"/>
                  <a:pt x="1866035" y="1807489"/>
                </a:cubicBezTo>
                <a:cubicBezTo>
                  <a:pt x="1810219" y="1872757"/>
                  <a:pt x="1748801" y="1935968"/>
                  <a:pt x="1682309" y="1996296"/>
                </a:cubicBezTo>
                <a:cubicBezTo>
                  <a:pt x="1576194" y="2092574"/>
                  <a:pt x="1470001" y="2142568"/>
                  <a:pt x="1337994" y="2158461"/>
                </a:cubicBezTo>
                <a:cubicBezTo>
                  <a:pt x="1199910" y="2175087"/>
                  <a:pt x="1044062" y="2153223"/>
                  <a:pt x="879058" y="2130049"/>
                </a:cubicBezTo>
                <a:cubicBezTo>
                  <a:pt x="848634" y="2125754"/>
                  <a:pt x="817168" y="2121353"/>
                  <a:pt x="785502" y="2117135"/>
                </a:cubicBezTo>
                <a:cubicBezTo>
                  <a:pt x="502076" y="2079344"/>
                  <a:pt x="306322" y="2041683"/>
                  <a:pt x="173222" y="1869052"/>
                </a:cubicBezTo>
                <a:cubicBezTo>
                  <a:pt x="-29583" y="1606017"/>
                  <a:pt x="-52797" y="1310477"/>
                  <a:pt x="95641" y="880852"/>
                </a:cubicBezTo>
                <a:cubicBezTo>
                  <a:pt x="115073" y="824625"/>
                  <a:pt x="131555" y="771941"/>
                  <a:pt x="147474" y="721011"/>
                </a:cubicBezTo>
                <a:cubicBezTo>
                  <a:pt x="213503" y="509874"/>
                  <a:pt x="250554" y="403591"/>
                  <a:pt x="370446" y="294813"/>
                </a:cubicBezTo>
                <a:cubicBezTo>
                  <a:pt x="489490" y="186804"/>
                  <a:pt x="627749" y="106909"/>
                  <a:pt x="781337" y="57290"/>
                </a:cubicBezTo>
                <a:cubicBezTo>
                  <a:pt x="894032" y="20897"/>
                  <a:pt x="1011095" y="1762"/>
                  <a:pt x="1130629" y="117"/>
                </a:cubicBezTo>
                <a:close/>
              </a:path>
            </a:pathLst>
          </a:custGeom>
          <a:blipFill>
            <a:blip r:embed="rId3" cstate="print">
              <a:duotone>
                <a:prstClr val="black"/>
                <a:schemeClr val="accent4">
                  <a:tint val="45000"/>
                  <a:satMod val="400000"/>
                </a:schemeClr>
              </a:duotone>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808CBB64-AAB7-3ECF-2DCD-18CCBFC181A7}"/>
              </a:ext>
            </a:extLst>
          </p:cNvPr>
          <p:cNvSpPr/>
          <p:nvPr userDrawn="1"/>
        </p:nvSpPr>
        <p:spPr>
          <a:xfrm rot="7684585">
            <a:off x="-437675" y="653223"/>
            <a:ext cx="888696" cy="845489"/>
          </a:xfrm>
          <a:custGeom>
            <a:avLst/>
            <a:gdLst>
              <a:gd name="connsiteX0" fmla="*/ 1393873 w 2791301"/>
              <a:gd name="connsiteY0" fmla="*/ 4 h 2663436"/>
              <a:gd name="connsiteX1" fmla="*/ 1544624 w 2791301"/>
              <a:gd name="connsiteY1" fmla="*/ 7531 h 2663436"/>
              <a:gd name="connsiteX2" fmla="*/ 2114171 w 2791301"/>
              <a:gd name="connsiteY2" fmla="*/ 174340 h 2663436"/>
              <a:gd name="connsiteX3" fmla="*/ 2558937 w 2791301"/>
              <a:gd name="connsiteY3" fmla="*/ 535959 h 2663436"/>
              <a:gd name="connsiteX4" fmla="*/ 2772402 w 2791301"/>
              <a:gd name="connsiteY4" fmla="*/ 994216 h 2663436"/>
              <a:gd name="connsiteX5" fmla="*/ 2756393 w 2791301"/>
              <a:gd name="connsiteY5" fmla="*/ 1480474 h 2663436"/>
              <a:gd name="connsiteX6" fmla="*/ 2344917 w 2791301"/>
              <a:gd name="connsiteY6" fmla="*/ 2236976 h 2663436"/>
              <a:gd name="connsiteX7" fmla="*/ 2117882 w 2791301"/>
              <a:gd name="connsiteY7" fmla="*/ 2465527 h 2663436"/>
              <a:gd name="connsiteX8" fmla="*/ 1689239 w 2791301"/>
              <a:gd name="connsiteY8" fmla="*/ 2658152 h 2663436"/>
              <a:gd name="connsiteX9" fmla="*/ 1113871 w 2791301"/>
              <a:gd name="connsiteY9" fmla="*/ 2614170 h 2663436"/>
              <a:gd name="connsiteX10" fmla="*/ 996462 w 2791301"/>
              <a:gd name="connsiteY10" fmla="*/ 2596447 h 2663436"/>
              <a:gd name="connsiteX11" fmla="*/ 225377 w 2791301"/>
              <a:gd name="connsiteY11" fmla="*/ 2279322 h 2663436"/>
              <a:gd name="connsiteX12" fmla="*/ 111893 w 2791301"/>
              <a:gd name="connsiteY12" fmla="*/ 1062629 h 2663436"/>
              <a:gd name="connsiteX13" fmla="*/ 174186 w 2791301"/>
              <a:gd name="connsiteY13" fmla="*/ 867095 h 2663436"/>
              <a:gd name="connsiteX14" fmla="*/ 446468 w 2791301"/>
              <a:gd name="connsiteY14" fmla="*/ 347405 h 2663436"/>
              <a:gd name="connsiteX15" fmla="*/ 957265 w 2791301"/>
              <a:gd name="connsiteY15" fmla="*/ 63425 h 2663436"/>
              <a:gd name="connsiteX16" fmla="*/ 1393873 w 2791301"/>
              <a:gd name="connsiteY16" fmla="*/ 4 h 2663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91301" h="2663436">
                <a:moveTo>
                  <a:pt x="1393873" y="4"/>
                </a:moveTo>
                <a:cubicBezTo>
                  <a:pt x="1443777" y="115"/>
                  <a:pt x="1494056" y="2621"/>
                  <a:pt x="1544624" y="7531"/>
                </a:cubicBezTo>
                <a:cubicBezTo>
                  <a:pt x="1743470" y="26804"/>
                  <a:pt x="1940404" y="84446"/>
                  <a:pt x="2114171" y="174340"/>
                </a:cubicBezTo>
                <a:cubicBezTo>
                  <a:pt x="2292730" y="266553"/>
                  <a:pt x="2442405" y="388281"/>
                  <a:pt x="2558937" y="535959"/>
                </a:cubicBezTo>
                <a:cubicBezTo>
                  <a:pt x="2668833" y="675228"/>
                  <a:pt x="2740611" y="829411"/>
                  <a:pt x="2772402" y="994216"/>
                </a:cubicBezTo>
                <a:cubicBezTo>
                  <a:pt x="2802153" y="1148707"/>
                  <a:pt x="2796751" y="1312318"/>
                  <a:pt x="2756393" y="1480474"/>
                </a:cubicBezTo>
                <a:cubicBezTo>
                  <a:pt x="2694473" y="1738280"/>
                  <a:pt x="2551441" y="1999502"/>
                  <a:pt x="2344917" y="2236976"/>
                </a:cubicBezTo>
                <a:cubicBezTo>
                  <a:pt x="2276075" y="2316133"/>
                  <a:pt x="2200179" y="2392652"/>
                  <a:pt x="2117882" y="2465527"/>
                </a:cubicBezTo>
                <a:cubicBezTo>
                  <a:pt x="1986543" y="2581826"/>
                  <a:pt x="1854341" y="2641210"/>
                  <a:pt x="1689239" y="2658152"/>
                </a:cubicBezTo>
                <a:cubicBezTo>
                  <a:pt x="1516539" y="2675876"/>
                  <a:pt x="1320951" y="2645919"/>
                  <a:pt x="1113871" y="2614170"/>
                </a:cubicBezTo>
                <a:cubicBezTo>
                  <a:pt x="1075689" y="2608293"/>
                  <a:pt x="1036200" y="2602259"/>
                  <a:pt x="996462" y="2596447"/>
                </a:cubicBezTo>
                <a:cubicBezTo>
                  <a:pt x="640795" y="2544391"/>
                  <a:pt x="394957" y="2494225"/>
                  <a:pt x="225377" y="2279322"/>
                </a:cubicBezTo>
                <a:cubicBezTo>
                  <a:pt x="-33010" y="1951877"/>
                  <a:pt x="-66965" y="1588003"/>
                  <a:pt x="111893" y="1062629"/>
                </a:cubicBezTo>
                <a:cubicBezTo>
                  <a:pt x="135308" y="993869"/>
                  <a:pt x="155086" y="929410"/>
                  <a:pt x="174186" y="867095"/>
                </a:cubicBezTo>
                <a:cubicBezTo>
                  <a:pt x="253418" y="608767"/>
                  <a:pt x="298077" y="478805"/>
                  <a:pt x="446468" y="347405"/>
                </a:cubicBezTo>
                <a:cubicBezTo>
                  <a:pt x="593811" y="216935"/>
                  <a:pt x="765687" y="121414"/>
                  <a:pt x="957265" y="63425"/>
                </a:cubicBezTo>
                <a:cubicBezTo>
                  <a:pt x="1097834" y="20894"/>
                  <a:pt x="1244162" y="-329"/>
                  <a:pt x="1393873" y="4"/>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7" name="Freeform: Shape 16">
            <a:extLst>
              <a:ext uri="{FF2B5EF4-FFF2-40B4-BE49-F238E27FC236}">
                <a16:creationId xmlns:a16="http://schemas.microsoft.com/office/drawing/2014/main" id="{AD1070D3-BE23-03D0-F6C3-A1F16A7C8513}"/>
              </a:ext>
            </a:extLst>
          </p:cNvPr>
          <p:cNvSpPr/>
          <p:nvPr userDrawn="1"/>
        </p:nvSpPr>
        <p:spPr>
          <a:xfrm rot="7684585">
            <a:off x="-471480" y="619347"/>
            <a:ext cx="956307" cy="913241"/>
          </a:xfrm>
          <a:custGeom>
            <a:avLst/>
            <a:gdLst>
              <a:gd name="connsiteX0" fmla="*/ 1525339 w 3040473"/>
              <a:gd name="connsiteY0" fmla="*/ 5 h 2903550"/>
              <a:gd name="connsiteX1" fmla="*/ 1689388 w 3040473"/>
              <a:gd name="connsiteY1" fmla="*/ 7465 h 2903550"/>
              <a:gd name="connsiteX2" fmla="*/ 2308491 w 3040473"/>
              <a:gd name="connsiteY2" fmla="*/ 186546 h 2903550"/>
              <a:gd name="connsiteX3" fmla="*/ 2790810 w 3040473"/>
              <a:gd name="connsiteY3" fmla="*/ 578683 h 2903550"/>
              <a:gd name="connsiteX4" fmla="*/ 3020886 w 3040473"/>
              <a:gd name="connsiteY4" fmla="*/ 1077350 h 2903550"/>
              <a:gd name="connsiteX5" fmla="*/ 3001050 w 3040473"/>
              <a:gd name="connsiteY5" fmla="*/ 1607690 h 2903550"/>
              <a:gd name="connsiteX6" fmla="*/ 2549423 w 3040473"/>
              <a:gd name="connsiteY6" fmla="*/ 2434689 h 2903550"/>
              <a:gd name="connsiteX7" fmla="*/ 2301170 w 3040473"/>
              <a:gd name="connsiteY7" fmla="*/ 2685047 h 2903550"/>
              <a:gd name="connsiteX8" fmla="*/ 1833654 w 3040473"/>
              <a:gd name="connsiteY8" fmla="*/ 2897229 h 2903550"/>
              <a:gd name="connsiteX9" fmla="*/ 1207605 w 3040473"/>
              <a:gd name="connsiteY9" fmla="*/ 2852120 h 2903550"/>
              <a:gd name="connsiteX10" fmla="*/ 1079897 w 3040473"/>
              <a:gd name="connsiteY10" fmla="*/ 2833375 h 2903550"/>
              <a:gd name="connsiteX11" fmla="*/ 242172 w 3040473"/>
              <a:gd name="connsiteY11" fmla="*/ 2491376 h 2903550"/>
              <a:gd name="connsiteX12" fmla="*/ 124682 w 3040473"/>
              <a:gd name="connsiteY12" fmla="*/ 1165145 h 2903550"/>
              <a:gd name="connsiteX13" fmla="*/ 193455 w 3040473"/>
              <a:gd name="connsiteY13" fmla="*/ 951608 h 2903550"/>
              <a:gd name="connsiteX14" fmla="*/ 492401 w 3040473"/>
              <a:gd name="connsiteY14" fmla="*/ 383541 h 2903550"/>
              <a:gd name="connsiteX15" fmla="*/ 1049792 w 3040473"/>
              <a:gd name="connsiteY15" fmla="*/ 71329 h 2903550"/>
              <a:gd name="connsiteX16" fmla="*/ 1525339 w 3040473"/>
              <a:gd name="connsiteY16" fmla="*/ 5 h 2903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40473" h="2903550">
                <a:moveTo>
                  <a:pt x="1525339" y="5"/>
                </a:moveTo>
                <a:cubicBezTo>
                  <a:pt x="1579656" y="-122"/>
                  <a:pt x="1634371" y="2362"/>
                  <a:pt x="1689388" y="7465"/>
                </a:cubicBezTo>
                <a:cubicBezTo>
                  <a:pt x="1905729" y="27497"/>
                  <a:pt x="2119799" y="89379"/>
                  <a:pt x="2308491" y="186546"/>
                </a:cubicBezTo>
                <a:cubicBezTo>
                  <a:pt x="2502388" y="286218"/>
                  <a:pt x="2664701" y="418219"/>
                  <a:pt x="2790810" y="578683"/>
                </a:cubicBezTo>
                <a:cubicBezTo>
                  <a:pt x="2909737" y="730010"/>
                  <a:pt x="2987100" y="897790"/>
                  <a:pt x="3020886" y="1077350"/>
                </a:cubicBezTo>
                <a:cubicBezTo>
                  <a:pt x="3052503" y="1245674"/>
                  <a:pt x="3045812" y="1424117"/>
                  <a:pt x="3001050" y="1607690"/>
                </a:cubicBezTo>
                <a:cubicBezTo>
                  <a:pt x="2932375" y="1889131"/>
                  <a:pt x="2775394" y="2174701"/>
                  <a:pt x="2549423" y="2434689"/>
                </a:cubicBezTo>
                <a:cubicBezTo>
                  <a:pt x="2474098" y="2521351"/>
                  <a:pt x="2391109" y="2605170"/>
                  <a:pt x="2301170" y="2685047"/>
                </a:cubicBezTo>
                <a:cubicBezTo>
                  <a:pt x="2157636" y="2812522"/>
                  <a:pt x="2013445" y="2877936"/>
                  <a:pt x="1833654" y="2897229"/>
                </a:cubicBezTo>
                <a:cubicBezTo>
                  <a:pt x="1645588" y="2917413"/>
                  <a:pt x="1432846" y="2885715"/>
                  <a:pt x="1207605" y="2852120"/>
                </a:cubicBezTo>
                <a:cubicBezTo>
                  <a:pt x="1166075" y="2845900"/>
                  <a:pt x="1123122" y="2839517"/>
                  <a:pt x="1079897" y="2833375"/>
                </a:cubicBezTo>
                <a:cubicBezTo>
                  <a:pt x="693025" y="2778372"/>
                  <a:pt x="425689" y="2724885"/>
                  <a:pt x="242172" y="2491376"/>
                </a:cubicBezTo>
                <a:cubicBezTo>
                  <a:pt x="-37449" y="2135581"/>
                  <a:pt x="-72603" y="1738947"/>
                  <a:pt x="124682" y="1165145"/>
                </a:cubicBezTo>
                <a:cubicBezTo>
                  <a:pt x="150509" y="1090046"/>
                  <a:pt x="172357" y="1019656"/>
                  <a:pt x="193455" y="951608"/>
                </a:cubicBezTo>
                <a:cubicBezTo>
                  <a:pt x="280976" y="669511"/>
                  <a:pt x="330232" y="527567"/>
                  <a:pt x="492401" y="383541"/>
                </a:cubicBezTo>
                <a:cubicBezTo>
                  <a:pt x="653425" y="240534"/>
                  <a:pt x="840979" y="135517"/>
                  <a:pt x="1049792" y="71329"/>
                </a:cubicBezTo>
                <a:cubicBezTo>
                  <a:pt x="1203007" y="24254"/>
                  <a:pt x="1362385" y="385"/>
                  <a:pt x="1525339" y="5"/>
                </a:cubicBez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8" name="Freeform: Shape 17">
            <a:extLst>
              <a:ext uri="{FF2B5EF4-FFF2-40B4-BE49-F238E27FC236}">
                <a16:creationId xmlns:a16="http://schemas.microsoft.com/office/drawing/2014/main" id="{C7E0F06D-898C-58E6-CA3F-78AE34C07888}"/>
              </a:ext>
            </a:extLst>
          </p:cNvPr>
          <p:cNvSpPr/>
          <p:nvPr userDrawn="1"/>
        </p:nvSpPr>
        <p:spPr>
          <a:xfrm rot="7684585">
            <a:off x="-398844" y="698277"/>
            <a:ext cx="811034" cy="755381"/>
          </a:xfrm>
          <a:custGeom>
            <a:avLst/>
            <a:gdLst>
              <a:gd name="connsiteX0" fmla="*/ 1283956 w 2536609"/>
              <a:gd name="connsiteY0" fmla="*/ 129 h 2390777"/>
              <a:gd name="connsiteX1" fmla="*/ 1420555 w 2536609"/>
              <a:gd name="connsiteY1" fmla="*/ 4761 h 2390777"/>
              <a:gd name="connsiteX2" fmla="*/ 1934956 w 2536609"/>
              <a:gd name="connsiteY2" fmla="*/ 146592 h 2390777"/>
              <a:gd name="connsiteX3" fmla="*/ 2333843 w 2536609"/>
              <a:gd name="connsiteY3" fmla="*/ 465224 h 2390777"/>
              <a:gd name="connsiteX4" fmla="*/ 2521826 w 2536609"/>
              <a:gd name="connsiteY4" fmla="*/ 873957 h 2390777"/>
              <a:gd name="connsiteX5" fmla="*/ 2501395 w 2536609"/>
              <a:gd name="connsiteY5" fmla="*/ 1311092 h 2390777"/>
              <a:gd name="connsiteX6" fmla="*/ 2209320 w 2536609"/>
              <a:gd name="connsiteY6" fmla="*/ 1886897 h 2390777"/>
              <a:gd name="connsiteX7" fmla="*/ 1910451 w 2536609"/>
              <a:gd name="connsiteY7" fmla="*/ 2205196 h 2390777"/>
              <a:gd name="connsiteX8" fmla="*/ 1519442 w 2536609"/>
              <a:gd name="connsiteY8" fmla="*/ 2384330 h 2390777"/>
              <a:gd name="connsiteX9" fmla="*/ 998270 w 2536609"/>
              <a:gd name="connsiteY9" fmla="*/ 2352944 h 2390777"/>
              <a:gd name="connsiteX10" fmla="*/ 892026 w 2536609"/>
              <a:gd name="connsiteY10" fmla="*/ 2338680 h 2390777"/>
              <a:gd name="connsiteX11" fmla="*/ 196712 w 2536609"/>
              <a:gd name="connsiteY11" fmla="*/ 2064638 h 2390777"/>
              <a:gd name="connsiteX12" fmla="*/ 108612 w 2536609"/>
              <a:gd name="connsiteY12" fmla="*/ 973028 h 2390777"/>
              <a:gd name="connsiteX13" fmla="*/ 167473 w 2536609"/>
              <a:gd name="connsiteY13" fmla="*/ 796459 h 2390777"/>
              <a:gd name="connsiteX14" fmla="*/ 420683 w 2536609"/>
              <a:gd name="connsiteY14" fmla="*/ 325664 h 2390777"/>
              <a:gd name="connsiteX15" fmla="*/ 887296 w 2536609"/>
              <a:gd name="connsiteY15" fmla="*/ 63284 h 2390777"/>
              <a:gd name="connsiteX16" fmla="*/ 1283956 w 2536609"/>
              <a:gd name="connsiteY16" fmla="*/ 129 h 2390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36609" h="2390777">
                <a:moveTo>
                  <a:pt x="1283956" y="129"/>
                </a:moveTo>
                <a:cubicBezTo>
                  <a:pt x="1329204" y="-477"/>
                  <a:pt x="1374764" y="1064"/>
                  <a:pt x="1420555" y="4761"/>
                </a:cubicBezTo>
                <a:cubicBezTo>
                  <a:pt x="1600623" y="19268"/>
                  <a:pt x="1778488" y="68277"/>
                  <a:pt x="1934956" y="146592"/>
                </a:cubicBezTo>
                <a:cubicBezTo>
                  <a:pt x="2095741" y="226922"/>
                  <a:pt x="2229975" y="334182"/>
                  <a:pt x="2333843" y="465224"/>
                </a:cubicBezTo>
                <a:cubicBezTo>
                  <a:pt x="2431797" y="588805"/>
                  <a:pt x="2495004" y="726327"/>
                  <a:pt x="2521826" y="873957"/>
                </a:cubicBezTo>
                <a:cubicBezTo>
                  <a:pt x="2546923" y="1012347"/>
                  <a:pt x="2540034" y="1159432"/>
                  <a:pt x="2501395" y="1311092"/>
                </a:cubicBezTo>
                <a:cubicBezTo>
                  <a:pt x="2451995" y="1504854"/>
                  <a:pt x="2351490" y="1701546"/>
                  <a:pt x="2209320" y="1886897"/>
                </a:cubicBezTo>
                <a:cubicBezTo>
                  <a:pt x="2124017" y="1998106"/>
                  <a:pt x="2023715" y="2105235"/>
                  <a:pt x="1910451" y="2205196"/>
                </a:cubicBezTo>
                <a:cubicBezTo>
                  <a:pt x="1789948" y="2311549"/>
                  <a:pt x="1669352" y="2366775"/>
                  <a:pt x="1519442" y="2384330"/>
                </a:cubicBezTo>
                <a:cubicBezTo>
                  <a:pt x="1362632" y="2402698"/>
                  <a:pt x="1185651" y="2378545"/>
                  <a:pt x="998270" y="2352944"/>
                </a:cubicBezTo>
                <a:cubicBezTo>
                  <a:pt x="963720" y="2348202"/>
                  <a:pt x="927987" y="2343340"/>
                  <a:pt x="892026" y="2338680"/>
                </a:cubicBezTo>
                <a:cubicBezTo>
                  <a:pt x="570163" y="2296934"/>
                  <a:pt x="347863" y="2255334"/>
                  <a:pt x="196712" y="2064638"/>
                </a:cubicBezTo>
                <a:cubicBezTo>
                  <a:pt x="-33594" y="1774076"/>
                  <a:pt x="-59958" y="1447611"/>
                  <a:pt x="108612" y="973028"/>
                </a:cubicBezTo>
                <a:cubicBezTo>
                  <a:pt x="130679" y="910916"/>
                  <a:pt x="149396" y="852719"/>
                  <a:pt x="167473" y="796459"/>
                </a:cubicBezTo>
                <a:cubicBezTo>
                  <a:pt x="242457" y="563228"/>
                  <a:pt x="284533" y="445824"/>
                  <a:pt x="420683" y="325664"/>
                </a:cubicBezTo>
                <a:cubicBezTo>
                  <a:pt x="555871" y="206352"/>
                  <a:pt x="712879" y="118097"/>
                  <a:pt x="887296" y="63284"/>
                </a:cubicBezTo>
                <a:cubicBezTo>
                  <a:pt x="1015273" y="23084"/>
                  <a:pt x="1148212" y="1947"/>
                  <a:pt x="1283956" y="129"/>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9" name="Freeform: Shape 18">
            <a:extLst>
              <a:ext uri="{FF2B5EF4-FFF2-40B4-BE49-F238E27FC236}">
                <a16:creationId xmlns:a16="http://schemas.microsoft.com/office/drawing/2014/main" id="{0DDFEE24-BC6D-9E20-71B8-8545B3A61DBB}"/>
              </a:ext>
            </a:extLst>
          </p:cNvPr>
          <p:cNvSpPr/>
          <p:nvPr userDrawn="1"/>
        </p:nvSpPr>
        <p:spPr>
          <a:xfrm rot="7684585">
            <a:off x="-344604" y="735604"/>
            <a:ext cx="702554" cy="680727"/>
          </a:xfrm>
          <a:custGeom>
            <a:avLst/>
            <a:gdLst>
              <a:gd name="connsiteX0" fmla="*/ 1130629 w 2233692"/>
              <a:gd name="connsiteY0" fmla="*/ 117 h 2164296"/>
              <a:gd name="connsiteX1" fmla="*/ 1250917 w 2233692"/>
              <a:gd name="connsiteY1" fmla="*/ 4310 h 2164296"/>
              <a:gd name="connsiteX2" fmla="*/ 1703887 w 2233692"/>
              <a:gd name="connsiteY2" fmla="*/ 132705 h 2164296"/>
              <a:gd name="connsiteX3" fmla="*/ 1898308 w 2233692"/>
              <a:gd name="connsiteY3" fmla="*/ 259714 h 2164296"/>
              <a:gd name="connsiteX4" fmla="*/ 2055139 w 2233692"/>
              <a:gd name="connsiteY4" fmla="*/ 421154 h 2164296"/>
              <a:gd name="connsiteX5" fmla="*/ 2220675 w 2233692"/>
              <a:gd name="connsiteY5" fmla="*/ 791167 h 2164296"/>
              <a:gd name="connsiteX6" fmla="*/ 2202684 w 2233692"/>
              <a:gd name="connsiteY6" fmla="*/ 1186890 h 2164296"/>
              <a:gd name="connsiteX7" fmla="*/ 1866035 w 2233692"/>
              <a:gd name="connsiteY7" fmla="*/ 1807489 h 2164296"/>
              <a:gd name="connsiteX8" fmla="*/ 1682309 w 2233692"/>
              <a:gd name="connsiteY8" fmla="*/ 1996296 h 2164296"/>
              <a:gd name="connsiteX9" fmla="*/ 1337994 w 2233692"/>
              <a:gd name="connsiteY9" fmla="*/ 2158461 h 2164296"/>
              <a:gd name="connsiteX10" fmla="*/ 879058 w 2233692"/>
              <a:gd name="connsiteY10" fmla="*/ 2130049 h 2164296"/>
              <a:gd name="connsiteX11" fmla="*/ 785502 w 2233692"/>
              <a:gd name="connsiteY11" fmla="*/ 2117135 h 2164296"/>
              <a:gd name="connsiteX12" fmla="*/ 173222 w 2233692"/>
              <a:gd name="connsiteY12" fmla="*/ 1869052 h 2164296"/>
              <a:gd name="connsiteX13" fmla="*/ 95641 w 2233692"/>
              <a:gd name="connsiteY13" fmla="*/ 880852 h 2164296"/>
              <a:gd name="connsiteX14" fmla="*/ 147474 w 2233692"/>
              <a:gd name="connsiteY14" fmla="*/ 721011 h 2164296"/>
              <a:gd name="connsiteX15" fmla="*/ 370446 w 2233692"/>
              <a:gd name="connsiteY15" fmla="*/ 294813 h 2164296"/>
              <a:gd name="connsiteX16" fmla="*/ 781337 w 2233692"/>
              <a:gd name="connsiteY16" fmla="*/ 57290 h 2164296"/>
              <a:gd name="connsiteX17" fmla="*/ 1130629 w 2233692"/>
              <a:gd name="connsiteY17" fmla="*/ 117 h 2164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33692" h="2164296">
                <a:moveTo>
                  <a:pt x="1130629" y="117"/>
                </a:moveTo>
                <a:cubicBezTo>
                  <a:pt x="1170474" y="-432"/>
                  <a:pt x="1210592" y="963"/>
                  <a:pt x="1250917" y="4310"/>
                </a:cubicBezTo>
                <a:cubicBezTo>
                  <a:pt x="1409478" y="17443"/>
                  <a:pt x="1566106" y="61809"/>
                  <a:pt x="1703887" y="132705"/>
                </a:cubicBezTo>
                <a:cubicBezTo>
                  <a:pt x="1774679" y="169066"/>
                  <a:pt x="1839627" y="211520"/>
                  <a:pt x="1898308" y="259714"/>
                </a:cubicBezTo>
                <a:cubicBezTo>
                  <a:pt x="1956991" y="307906"/>
                  <a:pt x="2009409" y="361840"/>
                  <a:pt x="2055139" y="421154"/>
                </a:cubicBezTo>
                <a:cubicBezTo>
                  <a:pt x="2141397" y="533028"/>
                  <a:pt x="2197055" y="657522"/>
                  <a:pt x="2220675" y="791167"/>
                </a:cubicBezTo>
                <a:cubicBezTo>
                  <a:pt x="2242774" y="916448"/>
                  <a:pt x="2236710" y="1049596"/>
                  <a:pt x="2202684" y="1186890"/>
                </a:cubicBezTo>
                <a:cubicBezTo>
                  <a:pt x="2150482" y="1397381"/>
                  <a:pt x="2033479" y="1611687"/>
                  <a:pt x="1866035" y="1807489"/>
                </a:cubicBezTo>
                <a:cubicBezTo>
                  <a:pt x="1810219" y="1872757"/>
                  <a:pt x="1748801" y="1935968"/>
                  <a:pt x="1682309" y="1996296"/>
                </a:cubicBezTo>
                <a:cubicBezTo>
                  <a:pt x="1576194" y="2092574"/>
                  <a:pt x="1470001" y="2142568"/>
                  <a:pt x="1337994" y="2158461"/>
                </a:cubicBezTo>
                <a:cubicBezTo>
                  <a:pt x="1199910" y="2175087"/>
                  <a:pt x="1044062" y="2153223"/>
                  <a:pt x="879058" y="2130049"/>
                </a:cubicBezTo>
                <a:cubicBezTo>
                  <a:pt x="848634" y="2125754"/>
                  <a:pt x="817168" y="2121353"/>
                  <a:pt x="785502" y="2117135"/>
                </a:cubicBezTo>
                <a:cubicBezTo>
                  <a:pt x="502076" y="2079344"/>
                  <a:pt x="306322" y="2041683"/>
                  <a:pt x="173222" y="1869052"/>
                </a:cubicBezTo>
                <a:cubicBezTo>
                  <a:pt x="-29583" y="1606017"/>
                  <a:pt x="-52797" y="1310477"/>
                  <a:pt x="95641" y="880852"/>
                </a:cubicBezTo>
                <a:cubicBezTo>
                  <a:pt x="115073" y="824625"/>
                  <a:pt x="131555" y="771941"/>
                  <a:pt x="147474" y="721011"/>
                </a:cubicBezTo>
                <a:cubicBezTo>
                  <a:pt x="213503" y="509874"/>
                  <a:pt x="250554" y="403591"/>
                  <a:pt x="370446" y="294813"/>
                </a:cubicBezTo>
                <a:cubicBezTo>
                  <a:pt x="489490" y="186804"/>
                  <a:pt x="627749" y="106909"/>
                  <a:pt x="781337" y="57290"/>
                </a:cubicBezTo>
                <a:cubicBezTo>
                  <a:pt x="894032" y="20897"/>
                  <a:pt x="1011095" y="1762"/>
                  <a:pt x="1130629" y="117"/>
                </a:cubicBezTo>
                <a:close/>
              </a:path>
            </a:pathLst>
          </a:custGeom>
          <a:blipFill>
            <a:blip r:embed="rId2" cstate="print">
              <a:duotone>
                <a:schemeClr val="accent3">
                  <a:shade val="45000"/>
                  <a:satMod val="135000"/>
                </a:schemeClr>
                <a:prstClr val="white"/>
              </a:duotone>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EE1DCFC8-9243-9002-5213-058807F642CD}"/>
              </a:ext>
            </a:extLst>
          </p:cNvPr>
          <p:cNvSpPr/>
          <p:nvPr userDrawn="1"/>
        </p:nvSpPr>
        <p:spPr>
          <a:xfrm rot="1841628">
            <a:off x="3504643" y="-541126"/>
            <a:ext cx="1212988" cy="1154015"/>
          </a:xfrm>
          <a:custGeom>
            <a:avLst/>
            <a:gdLst>
              <a:gd name="connsiteX0" fmla="*/ 1393873 w 2791301"/>
              <a:gd name="connsiteY0" fmla="*/ 4 h 2663436"/>
              <a:gd name="connsiteX1" fmla="*/ 1544624 w 2791301"/>
              <a:gd name="connsiteY1" fmla="*/ 7531 h 2663436"/>
              <a:gd name="connsiteX2" fmla="*/ 2114171 w 2791301"/>
              <a:gd name="connsiteY2" fmla="*/ 174340 h 2663436"/>
              <a:gd name="connsiteX3" fmla="*/ 2558937 w 2791301"/>
              <a:gd name="connsiteY3" fmla="*/ 535959 h 2663436"/>
              <a:gd name="connsiteX4" fmla="*/ 2772402 w 2791301"/>
              <a:gd name="connsiteY4" fmla="*/ 994216 h 2663436"/>
              <a:gd name="connsiteX5" fmla="*/ 2756393 w 2791301"/>
              <a:gd name="connsiteY5" fmla="*/ 1480474 h 2663436"/>
              <a:gd name="connsiteX6" fmla="*/ 2344917 w 2791301"/>
              <a:gd name="connsiteY6" fmla="*/ 2236976 h 2663436"/>
              <a:gd name="connsiteX7" fmla="*/ 2117882 w 2791301"/>
              <a:gd name="connsiteY7" fmla="*/ 2465527 h 2663436"/>
              <a:gd name="connsiteX8" fmla="*/ 1689239 w 2791301"/>
              <a:gd name="connsiteY8" fmla="*/ 2658152 h 2663436"/>
              <a:gd name="connsiteX9" fmla="*/ 1113871 w 2791301"/>
              <a:gd name="connsiteY9" fmla="*/ 2614170 h 2663436"/>
              <a:gd name="connsiteX10" fmla="*/ 996462 w 2791301"/>
              <a:gd name="connsiteY10" fmla="*/ 2596447 h 2663436"/>
              <a:gd name="connsiteX11" fmla="*/ 225377 w 2791301"/>
              <a:gd name="connsiteY11" fmla="*/ 2279322 h 2663436"/>
              <a:gd name="connsiteX12" fmla="*/ 111893 w 2791301"/>
              <a:gd name="connsiteY12" fmla="*/ 1062629 h 2663436"/>
              <a:gd name="connsiteX13" fmla="*/ 174186 w 2791301"/>
              <a:gd name="connsiteY13" fmla="*/ 867095 h 2663436"/>
              <a:gd name="connsiteX14" fmla="*/ 446468 w 2791301"/>
              <a:gd name="connsiteY14" fmla="*/ 347405 h 2663436"/>
              <a:gd name="connsiteX15" fmla="*/ 957265 w 2791301"/>
              <a:gd name="connsiteY15" fmla="*/ 63425 h 2663436"/>
              <a:gd name="connsiteX16" fmla="*/ 1393873 w 2791301"/>
              <a:gd name="connsiteY16" fmla="*/ 4 h 2663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91301" h="2663436">
                <a:moveTo>
                  <a:pt x="1393873" y="4"/>
                </a:moveTo>
                <a:cubicBezTo>
                  <a:pt x="1443777" y="115"/>
                  <a:pt x="1494056" y="2621"/>
                  <a:pt x="1544624" y="7531"/>
                </a:cubicBezTo>
                <a:cubicBezTo>
                  <a:pt x="1743470" y="26804"/>
                  <a:pt x="1940404" y="84446"/>
                  <a:pt x="2114171" y="174340"/>
                </a:cubicBezTo>
                <a:cubicBezTo>
                  <a:pt x="2292730" y="266553"/>
                  <a:pt x="2442405" y="388281"/>
                  <a:pt x="2558937" y="535959"/>
                </a:cubicBezTo>
                <a:cubicBezTo>
                  <a:pt x="2668833" y="675228"/>
                  <a:pt x="2740611" y="829411"/>
                  <a:pt x="2772402" y="994216"/>
                </a:cubicBezTo>
                <a:cubicBezTo>
                  <a:pt x="2802153" y="1148707"/>
                  <a:pt x="2796751" y="1312318"/>
                  <a:pt x="2756393" y="1480474"/>
                </a:cubicBezTo>
                <a:cubicBezTo>
                  <a:pt x="2694473" y="1738280"/>
                  <a:pt x="2551441" y="1999502"/>
                  <a:pt x="2344917" y="2236976"/>
                </a:cubicBezTo>
                <a:cubicBezTo>
                  <a:pt x="2276075" y="2316133"/>
                  <a:pt x="2200179" y="2392652"/>
                  <a:pt x="2117882" y="2465527"/>
                </a:cubicBezTo>
                <a:cubicBezTo>
                  <a:pt x="1986543" y="2581826"/>
                  <a:pt x="1854341" y="2641210"/>
                  <a:pt x="1689239" y="2658152"/>
                </a:cubicBezTo>
                <a:cubicBezTo>
                  <a:pt x="1516539" y="2675876"/>
                  <a:pt x="1320951" y="2645919"/>
                  <a:pt x="1113871" y="2614170"/>
                </a:cubicBezTo>
                <a:cubicBezTo>
                  <a:pt x="1075689" y="2608293"/>
                  <a:pt x="1036200" y="2602259"/>
                  <a:pt x="996462" y="2596447"/>
                </a:cubicBezTo>
                <a:cubicBezTo>
                  <a:pt x="640795" y="2544391"/>
                  <a:pt x="394957" y="2494225"/>
                  <a:pt x="225377" y="2279322"/>
                </a:cubicBezTo>
                <a:cubicBezTo>
                  <a:pt x="-33010" y="1951877"/>
                  <a:pt x="-66965" y="1588003"/>
                  <a:pt x="111893" y="1062629"/>
                </a:cubicBezTo>
                <a:cubicBezTo>
                  <a:pt x="135308" y="993869"/>
                  <a:pt x="155086" y="929410"/>
                  <a:pt x="174186" y="867095"/>
                </a:cubicBezTo>
                <a:cubicBezTo>
                  <a:pt x="253418" y="608767"/>
                  <a:pt x="298077" y="478805"/>
                  <a:pt x="446468" y="347405"/>
                </a:cubicBezTo>
                <a:cubicBezTo>
                  <a:pt x="593811" y="216935"/>
                  <a:pt x="765687" y="121414"/>
                  <a:pt x="957265" y="63425"/>
                </a:cubicBezTo>
                <a:cubicBezTo>
                  <a:pt x="1097834" y="20894"/>
                  <a:pt x="1244162" y="-329"/>
                  <a:pt x="1393873" y="4"/>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1" name="Freeform: Shape 20">
            <a:extLst>
              <a:ext uri="{FF2B5EF4-FFF2-40B4-BE49-F238E27FC236}">
                <a16:creationId xmlns:a16="http://schemas.microsoft.com/office/drawing/2014/main" id="{B553F209-9DDD-7C8B-42F1-5DED6E95AE0E}"/>
              </a:ext>
            </a:extLst>
          </p:cNvPr>
          <p:cNvSpPr/>
          <p:nvPr userDrawn="1"/>
        </p:nvSpPr>
        <p:spPr>
          <a:xfrm rot="1841628">
            <a:off x="3458501" y="-587364"/>
            <a:ext cx="1305272" cy="1246491"/>
          </a:xfrm>
          <a:custGeom>
            <a:avLst/>
            <a:gdLst>
              <a:gd name="connsiteX0" fmla="*/ 1525339 w 3040473"/>
              <a:gd name="connsiteY0" fmla="*/ 5 h 2903550"/>
              <a:gd name="connsiteX1" fmla="*/ 1689388 w 3040473"/>
              <a:gd name="connsiteY1" fmla="*/ 7465 h 2903550"/>
              <a:gd name="connsiteX2" fmla="*/ 2308491 w 3040473"/>
              <a:gd name="connsiteY2" fmla="*/ 186546 h 2903550"/>
              <a:gd name="connsiteX3" fmla="*/ 2790810 w 3040473"/>
              <a:gd name="connsiteY3" fmla="*/ 578683 h 2903550"/>
              <a:gd name="connsiteX4" fmla="*/ 3020886 w 3040473"/>
              <a:gd name="connsiteY4" fmla="*/ 1077350 h 2903550"/>
              <a:gd name="connsiteX5" fmla="*/ 3001050 w 3040473"/>
              <a:gd name="connsiteY5" fmla="*/ 1607690 h 2903550"/>
              <a:gd name="connsiteX6" fmla="*/ 2549423 w 3040473"/>
              <a:gd name="connsiteY6" fmla="*/ 2434689 h 2903550"/>
              <a:gd name="connsiteX7" fmla="*/ 2301170 w 3040473"/>
              <a:gd name="connsiteY7" fmla="*/ 2685047 h 2903550"/>
              <a:gd name="connsiteX8" fmla="*/ 1833654 w 3040473"/>
              <a:gd name="connsiteY8" fmla="*/ 2897229 h 2903550"/>
              <a:gd name="connsiteX9" fmla="*/ 1207605 w 3040473"/>
              <a:gd name="connsiteY9" fmla="*/ 2852120 h 2903550"/>
              <a:gd name="connsiteX10" fmla="*/ 1079897 w 3040473"/>
              <a:gd name="connsiteY10" fmla="*/ 2833375 h 2903550"/>
              <a:gd name="connsiteX11" fmla="*/ 242172 w 3040473"/>
              <a:gd name="connsiteY11" fmla="*/ 2491376 h 2903550"/>
              <a:gd name="connsiteX12" fmla="*/ 124682 w 3040473"/>
              <a:gd name="connsiteY12" fmla="*/ 1165145 h 2903550"/>
              <a:gd name="connsiteX13" fmla="*/ 193455 w 3040473"/>
              <a:gd name="connsiteY13" fmla="*/ 951608 h 2903550"/>
              <a:gd name="connsiteX14" fmla="*/ 492401 w 3040473"/>
              <a:gd name="connsiteY14" fmla="*/ 383541 h 2903550"/>
              <a:gd name="connsiteX15" fmla="*/ 1049792 w 3040473"/>
              <a:gd name="connsiteY15" fmla="*/ 71329 h 2903550"/>
              <a:gd name="connsiteX16" fmla="*/ 1525339 w 3040473"/>
              <a:gd name="connsiteY16" fmla="*/ 5 h 2903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40473" h="2903550">
                <a:moveTo>
                  <a:pt x="1525339" y="5"/>
                </a:moveTo>
                <a:cubicBezTo>
                  <a:pt x="1579656" y="-122"/>
                  <a:pt x="1634371" y="2362"/>
                  <a:pt x="1689388" y="7465"/>
                </a:cubicBezTo>
                <a:cubicBezTo>
                  <a:pt x="1905729" y="27497"/>
                  <a:pt x="2119799" y="89379"/>
                  <a:pt x="2308491" y="186546"/>
                </a:cubicBezTo>
                <a:cubicBezTo>
                  <a:pt x="2502388" y="286218"/>
                  <a:pt x="2664701" y="418219"/>
                  <a:pt x="2790810" y="578683"/>
                </a:cubicBezTo>
                <a:cubicBezTo>
                  <a:pt x="2909737" y="730010"/>
                  <a:pt x="2987100" y="897790"/>
                  <a:pt x="3020886" y="1077350"/>
                </a:cubicBezTo>
                <a:cubicBezTo>
                  <a:pt x="3052503" y="1245674"/>
                  <a:pt x="3045812" y="1424117"/>
                  <a:pt x="3001050" y="1607690"/>
                </a:cubicBezTo>
                <a:cubicBezTo>
                  <a:pt x="2932375" y="1889131"/>
                  <a:pt x="2775394" y="2174701"/>
                  <a:pt x="2549423" y="2434689"/>
                </a:cubicBezTo>
                <a:cubicBezTo>
                  <a:pt x="2474098" y="2521351"/>
                  <a:pt x="2391109" y="2605170"/>
                  <a:pt x="2301170" y="2685047"/>
                </a:cubicBezTo>
                <a:cubicBezTo>
                  <a:pt x="2157636" y="2812522"/>
                  <a:pt x="2013445" y="2877936"/>
                  <a:pt x="1833654" y="2897229"/>
                </a:cubicBezTo>
                <a:cubicBezTo>
                  <a:pt x="1645588" y="2917413"/>
                  <a:pt x="1432846" y="2885715"/>
                  <a:pt x="1207605" y="2852120"/>
                </a:cubicBezTo>
                <a:cubicBezTo>
                  <a:pt x="1166075" y="2845900"/>
                  <a:pt x="1123122" y="2839517"/>
                  <a:pt x="1079897" y="2833375"/>
                </a:cubicBezTo>
                <a:cubicBezTo>
                  <a:pt x="693025" y="2778372"/>
                  <a:pt x="425689" y="2724885"/>
                  <a:pt x="242172" y="2491376"/>
                </a:cubicBezTo>
                <a:cubicBezTo>
                  <a:pt x="-37449" y="2135581"/>
                  <a:pt x="-72603" y="1738947"/>
                  <a:pt x="124682" y="1165145"/>
                </a:cubicBezTo>
                <a:cubicBezTo>
                  <a:pt x="150509" y="1090046"/>
                  <a:pt x="172357" y="1019656"/>
                  <a:pt x="193455" y="951608"/>
                </a:cubicBezTo>
                <a:cubicBezTo>
                  <a:pt x="280976" y="669511"/>
                  <a:pt x="330232" y="527567"/>
                  <a:pt x="492401" y="383541"/>
                </a:cubicBezTo>
                <a:cubicBezTo>
                  <a:pt x="653425" y="240534"/>
                  <a:pt x="840979" y="135517"/>
                  <a:pt x="1049792" y="71329"/>
                </a:cubicBezTo>
                <a:cubicBezTo>
                  <a:pt x="1203007" y="24254"/>
                  <a:pt x="1362385" y="385"/>
                  <a:pt x="1525339" y="5"/>
                </a:cubicBez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2" name="Freeform: Shape 21">
            <a:extLst>
              <a:ext uri="{FF2B5EF4-FFF2-40B4-BE49-F238E27FC236}">
                <a16:creationId xmlns:a16="http://schemas.microsoft.com/office/drawing/2014/main" id="{2A109C57-3E4E-9406-D705-3C99BED39544}"/>
              </a:ext>
            </a:extLst>
          </p:cNvPr>
          <p:cNvSpPr/>
          <p:nvPr userDrawn="1"/>
        </p:nvSpPr>
        <p:spPr>
          <a:xfrm rot="1841628">
            <a:off x="3557643" y="-479632"/>
            <a:ext cx="1106988" cy="1031027"/>
          </a:xfrm>
          <a:custGeom>
            <a:avLst/>
            <a:gdLst>
              <a:gd name="connsiteX0" fmla="*/ 1283956 w 2536609"/>
              <a:gd name="connsiteY0" fmla="*/ 129 h 2390777"/>
              <a:gd name="connsiteX1" fmla="*/ 1420555 w 2536609"/>
              <a:gd name="connsiteY1" fmla="*/ 4761 h 2390777"/>
              <a:gd name="connsiteX2" fmla="*/ 1934956 w 2536609"/>
              <a:gd name="connsiteY2" fmla="*/ 146592 h 2390777"/>
              <a:gd name="connsiteX3" fmla="*/ 2333843 w 2536609"/>
              <a:gd name="connsiteY3" fmla="*/ 465224 h 2390777"/>
              <a:gd name="connsiteX4" fmla="*/ 2521826 w 2536609"/>
              <a:gd name="connsiteY4" fmla="*/ 873957 h 2390777"/>
              <a:gd name="connsiteX5" fmla="*/ 2501395 w 2536609"/>
              <a:gd name="connsiteY5" fmla="*/ 1311092 h 2390777"/>
              <a:gd name="connsiteX6" fmla="*/ 2209320 w 2536609"/>
              <a:gd name="connsiteY6" fmla="*/ 1886897 h 2390777"/>
              <a:gd name="connsiteX7" fmla="*/ 1910451 w 2536609"/>
              <a:gd name="connsiteY7" fmla="*/ 2205196 h 2390777"/>
              <a:gd name="connsiteX8" fmla="*/ 1519442 w 2536609"/>
              <a:gd name="connsiteY8" fmla="*/ 2384330 h 2390777"/>
              <a:gd name="connsiteX9" fmla="*/ 998270 w 2536609"/>
              <a:gd name="connsiteY9" fmla="*/ 2352944 h 2390777"/>
              <a:gd name="connsiteX10" fmla="*/ 892026 w 2536609"/>
              <a:gd name="connsiteY10" fmla="*/ 2338680 h 2390777"/>
              <a:gd name="connsiteX11" fmla="*/ 196712 w 2536609"/>
              <a:gd name="connsiteY11" fmla="*/ 2064638 h 2390777"/>
              <a:gd name="connsiteX12" fmla="*/ 108612 w 2536609"/>
              <a:gd name="connsiteY12" fmla="*/ 973028 h 2390777"/>
              <a:gd name="connsiteX13" fmla="*/ 167473 w 2536609"/>
              <a:gd name="connsiteY13" fmla="*/ 796459 h 2390777"/>
              <a:gd name="connsiteX14" fmla="*/ 420683 w 2536609"/>
              <a:gd name="connsiteY14" fmla="*/ 325664 h 2390777"/>
              <a:gd name="connsiteX15" fmla="*/ 887296 w 2536609"/>
              <a:gd name="connsiteY15" fmla="*/ 63284 h 2390777"/>
              <a:gd name="connsiteX16" fmla="*/ 1283956 w 2536609"/>
              <a:gd name="connsiteY16" fmla="*/ 129 h 2390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36609" h="2390777">
                <a:moveTo>
                  <a:pt x="1283956" y="129"/>
                </a:moveTo>
                <a:cubicBezTo>
                  <a:pt x="1329204" y="-477"/>
                  <a:pt x="1374764" y="1064"/>
                  <a:pt x="1420555" y="4761"/>
                </a:cubicBezTo>
                <a:cubicBezTo>
                  <a:pt x="1600623" y="19268"/>
                  <a:pt x="1778488" y="68277"/>
                  <a:pt x="1934956" y="146592"/>
                </a:cubicBezTo>
                <a:cubicBezTo>
                  <a:pt x="2095741" y="226922"/>
                  <a:pt x="2229975" y="334182"/>
                  <a:pt x="2333843" y="465224"/>
                </a:cubicBezTo>
                <a:cubicBezTo>
                  <a:pt x="2431797" y="588805"/>
                  <a:pt x="2495004" y="726327"/>
                  <a:pt x="2521826" y="873957"/>
                </a:cubicBezTo>
                <a:cubicBezTo>
                  <a:pt x="2546923" y="1012347"/>
                  <a:pt x="2540034" y="1159432"/>
                  <a:pt x="2501395" y="1311092"/>
                </a:cubicBezTo>
                <a:cubicBezTo>
                  <a:pt x="2451995" y="1504854"/>
                  <a:pt x="2351490" y="1701546"/>
                  <a:pt x="2209320" y="1886897"/>
                </a:cubicBezTo>
                <a:cubicBezTo>
                  <a:pt x="2124017" y="1998106"/>
                  <a:pt x="2023715" y="2105235"/>
                  <a:pt x="1910451" y="2205196"/>
                </a:cubicBezTo>
                <a:cubicBezTo>
                  <a:pt x="1789948" y="2311549"/>
                  <a:pt x="1669352" y="2366775"/>
                  <a:pt x="1519442" y="2384330"/>
                </a:cubicBezTo>
                <a:cubicBezTo>
                  <a:pt x="1362632" y="2402698"/>
                  <a:pt x="1185651" y="2378545"/>
                  <a:pt x="998270" y="2352944"/>
                </a:cubicBezTo>
                <a:cubicBezTo>
                  <a:pt x="963720" y="2348202"/>
                  <a:pt x="927987" y="2343340"/>
                  <a:pt x="892026" y="2338680"/>
                </a:cubicBezTo>
                <a:cubicBezTo>
                  <a:pt x="570163" y="2296934"/>
                  <a:pt x="347863" y="2255334"/>
                  <a:pt x="196712" y="2064638"/>
                </a:cubicBezTo>
                <a:cubicBezTo>
                  <a:pt x="-33594" y="1774076"/>
                  <a:pt x="-59958" y="1447611"/>
                  <a:pt x="108612" y="973028"/>
                </a:cubicBezTo>
                <a:cubicBezTo>
                  <a:pt x="130679" y="910916"/>
                  <a:pt x="149396" y="852719"/>
                  <a:pt x="167473" y="796459"/>
                </a:cubicBezTo>
                <a:cubicBezTo>
                  <a:pt x="242457" y="563228"/>
                  <a:pt x="284533" y="445824"/>
                  <a:pt x="420683" y="325664"/>
                </a:cubicBezTo>
                <a:cubicBezTo>
                  <a:pt x="555871" y="206352"/>
                  <a:pt x="712879" y="118097"/>
                  <a:pt x="887296" y="63284"/>
                </a:cubicBezTo>
                <a:cubicBezTo>
                  <a:pt x="1015273" y="23084"/>
                  <a:pt x="1148212" y="1947"/>
                  <a:pt x="1283956" y="129"/>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3" name="Freeform: Shape 22">
            <a:extLst>
              <a:ext uri="{FF2B5EF4-FFF2-40B4-BE49-F238E27FC236}">
                <a16:creationId xmlns:a16="http://schemas.microsoft.com/office/drawing/2014/main" id="{83DC057D-27C7-01D1-CF38-23CCE0D8408E}"/>
              </a:ext>
            </a:extLst>
          </p:cNvPr>
          <p:cNvSpPr/>
          <p:nvPr userDrawn="1"/>
        </p:nvSpPr>
        <p:spPr>
          <a:xfrm rot="1841628">
            <a:off x="3631677" y="-428684"/>
            <a:ext cx="958921" cy="929130"/>
          </a:xfrm>
          <a:custGeom>
            <a:avLst/>
            <a:gdLst>
              <a:gd name="connsiteX0" fmla="*/ 1130629 w 2233692"/>
              <a:gd name="connsiteY0" fmla="*/ 117 h 2164296"/>
              <a:gd name="connsiteX1" fmla="*/ 1250917 w 2233692"/>
              <a:gd name="connsiteY1" fmla="*/ 4310 h 2164296"/>
              <a:gd name="connsiteX2" fmla="*/ 1703887 w 2233692"/>
              <a:gd name="connsiteY2" fmla="*/ 132705 h 2164296"/>
              <a:gd name="connsiteX3" fmla="*/ 1898308 w 2233692"/>
              <a:gd name="connsiteY3" fmla="*/ 259714 h 2164296"/>
              <a:gd name="connsiteX4" fmla="*/ 2055139 w 2233692"/>
              <a:gd name="connsiteY4" fmla="*/ 421154 h 2164296"/>
              <a:gd name="connsiteX5" fmla="*/ 2220675 w 2233692"/>
              <a:gd name="connsiteY5" fmla="*/ 791167 h 2164296"/>
              <a:gd name="connsiteX6" fmla="*/ 2202684 w 2233692"/>
              <a:gd name="connsiteY6" fmla="*/ 1186890 h 2164296"/>
              <a:gd name="connsiteX7" fmla="*/ 1866035 w 2233692"/>
              <a:gd name="connsiteY7" fmla="*/ 1807489 h 2164296"/>
              <a:gd name="connsiteX8" fmla="*/ 1682309 w 2233692"/>
              <a:gd name="connsiteY8" fmla="*/ 1996296 h 2164296"/>
              <a:gd name="connsiteX9" fmla="*/ 1337994 w 2233692"/>
              <a:gd name="connsiteY9" fmla="*/ 2158461 h 2164296"/>
              <a:gd name="connsiteX10" fmla="*/ 879058 w 2233692"/>
              <a:gd name="connsiteY10" fmla="*/ 2130049 h 2164296"/>
              <a:gd name="connsiteX11" fmla="*/ 785502 w 2233692"/>
              <a:gd name="connsiteY11" fmla="*/ 2117135 h 2164296"/>
              <a:gd name="connsiteX12" fmla="*/ 173222 w 2233692"/>
              <a:gd name="connsiteY12" fmla="*/ 1869052 h 2164296"/>
              <a:gd name="connsiteX13" fmla="*/ 95641 w 2233692"/>
              <a:gd name="connsiteY13" fmla="*/ 880852 h 2164296"/>
              <a:gd name="connsiteX14" fmla="*/ 147474 w 2233692"/>
              <a:gd name="connsiteY14" fmla="*/ 721011 h 2164296"/>
              <a:gd name="connsiteX15" fmla="*/ 370446 w 2233692"/>
              <a:gd name="connsiteY15" fmla="*/ 294813 h 2164296"/>
              <a:gd name="connsiteX16" fmla="*/ 781337 w 2233692"/>
              <a:gd name="connsiteY16" fmla="*/ 57290 h 2164296"/>
              <a:gd name="connsiteX17" fmla="*/ 1130629 w 2233692"/>
              <a:gd name="connsiteY17" fmla="*/ 117 h 2164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33692" h="2164296">
                <a:moveTo>
                  <a:pt x="1130629" y="117"/>
                </a:moveTo>
                <a:cubicBezTo>
                  <a:pt x="1170474" y="-432"/>
                  <a:pt x="1210592" y="963"/>
                  <a:pt x="1250917" y="4310"/>
                </a:cubicBezTo>
                <a:cubicBezTo>
                  <a:pt x="1409478" y="17443"/>
                  <a:pt x="1566106" y="61809"/>
                  <a:pt x="1703887" y="132705"/>
                </a:cubicBezTo>
                <a:cubicBezTo>
                  <a:pt x="1774679" y="169066"/>
                  <a:pt x="1839627" y="211520"/>
                  <a:pt x="1898308" y="259714"/>
                </a:cubicBezTo>
                <a:cubicBezTo>
                  <a:pt x="1956991" y="307906"/>
                  <a:pt x="2009409" y="361840"/>
                  <a:pt x="2055139" y="421154"/>
                </a:cubicBezTo>
                <a:cubicBezTo>
                  <a:pt x="2141397" y="533028"/>
                  <a:pt x="2197055" y="657522"/>
                  <a:pt x="2220675" y="791167"/>
                </a:cubicBezTo>
                <a:cubicBezTo>
                  <a:pt x="2242774" y="916448"/>
                  <a:pt x="2236710" y="1049596"/>
                  <a:pt x="2202684" y="1186890"/>
                </a:cubicBezTo>
                <a:cubicBezTo>
                  <a:pt x="2150482" y="1397381"/>
                  <a:pt x="2033479" y="1611687"/>
                  <a:pt x="1866035" y="1807489"/>
                </a:cubicBezTo>
                <a:cubicBezTo>
                  <a:pt x="1810219" y="1872757"/>
                  <a:pt x="1748801" y="1935968"/>
                  <a:pt x="1682309" y="1996296"/>
                </a:cubicBezTo>
                <a:cubicBezTo>
                  <a:pt x="1576194" y="2092574"/>
                  <a:pt x="1470001" y="2142568"/>
                  <a:pt x="1337994" y="2158461"/>
                </a:cubicBezTo>
                <a:cubicBezTo>
                  <a:pt x="1199910" y="2175087"/>
                  <a:pt x="1044062" y="2153223"/>
                  <a:pt x="879058" y="2130049"/>
                </a:cubicBezTo>
                <a:cubicBezTo>
                  <a:pt x="848634" y="2125754"/>
                  <a:pt x="817168" y="2121353"/>
                  <a:pt x="785502" y="2117135"/>
                </a:cubicBezTo>
                <a:cubicBezTo>
                  <a:pt x="502076" y="2079344"/>
                  <a:pt x="306322" y="2041683"/>
                  <a:pt x="173222" y="1869052"/>
                </a:cubicBezTo>
                <a:cubicBezTo>
                  <a:pt x="-29583" y="1606017"/>
                  <a:pt x="-52797" y="1310477"/>
                  <a:pt x="95641" y="880852"/>
                </a:cubicBezTo>
                <a:cubicBezTo>
                  <a:pt x="115073" y="824625"/>
                  <a:pt x="131555" y="771941"/>
                  <a:pt x="147474" y="721011"/>
                </a:cubicBezTo>
                <a:cubicBezTo>
                  <a:pt x="213503" y="509874"/>
                  <a:pt x="250554" y="403591"/>
                  <a:pt x="370446" y="294813"/>
                </a:cubicBezTo>
                <a:cubicBezTo>
                  <a:pt x="489490" y="186804"/>
                  <a:pt x="627749" y="106909"/>
                  <a:pt x="781337" y="57290"/>
                </a:cubicBezTo>
                <a:cubicBezTo>
                  <a:pt x="894032" y="20897"/>
                  <a:pt x="1011095" y="1762"/>
                  <a:pt x="1130629" y="117"/>
                </a:cubicBezTo>
                <a:close/>
              </a:path>
            </a:pathLst>
          </a:custGeom>
          <a:blipFill>
            <a:blip r:embed="rId3" cstate="print">
              <a:duotone>
                <a:prstClr val="black"/>
                <a:schemeClr val="accent3">
                  <a:tint val="45000"/>
                  <a:satMod val="400000"/>
                </a:schemeClr>
              </a:duotone>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96165008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2/3/20XX</a:t>
            </a:r>
            <a:endParaRPr lang="en-US" dirty="0"/>
          </a:p>
        </p:txBody>
      </p:sp>
      <p:sp>
        <p:nvSpPr>
          <p:cNvPr id="8" name="Footer Placeholder 7"/>
          <p:cNvSpPr>
            <a:spLocks noGrp="1"/>
          </p:cNvSpPr>
          <p:nvPr>
            <p:ph type="ftr" sz="quarter" idx="11"/>
          </p:nvPr>
        </p:nvSpPr>
        <p:spPr/>
        <p:txBody>
          <a:bodyPr/>
          <a:lstStyle/>
          <a:p>
            <a:pPr algn="ctr"/>
            <a:r>
              <a:rPr lang="en-US"/>
              <a:t>Presentation Title</a:t>
            </a:r>
            <a:endParaRPr lang="en-US" dirty="0"/>
          </a:p>
        </p:txBody>
      </p:sp>
      <p:sp>
        <p:nvSpPr>
          <p:cNvPr id="9" name="Slide Number Placeholder 8"/>
          <p:cNvSpPr>
            <a:spLocks noGrp="1"/>
          </p:cNvSpPr>
          <p:nvPr>
            <p:ph type="sldNum" sz="quarter" idx="12"/>
          </p:nvPr>
        </p:nvSpPr>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337377137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2/3/20XX</a:t>
            </a:r>
            <a:endParaRPr lang="en-US" dirty="0"/>
          </a:p>
        </p:txBody>
      </p:sp>
      <p:sp>
        <p:nvSpPr>
          <p:cNvPr id="4" name="Footer Placeholder 3"/>
          <p:cNvSpPr>
            <a:spLocks noGrp="1"/>
          </p:cNvSpPr>
          <p:nvPr>
            <p:ph type="ftr" sz="quarter" idx="11"/>
          </p:nvPr>
        </p:nvSpPr>
        <p:spPr/>
        <p:txBody>
          <a:bodyPr/>
          <a:lstStyle/>
          <a:p>
            <a:pPr algn="ctr"/>
            <a:r>
              <a:rPr lang="en-US"/>
              <a:t>Presentation Title</a:t>
            </a:r>
            <a:endParaRPr lang="en-US" dirty="0"/>
          </a:p>
        </p:txBody>
      </p:sp>
      <p:sp>
        <p:nvSpPr>
          <p:cNvPr id="5" name="Slide Number Placeholder 4"/>
          <p:cNvSpPr>
            <a:spLocks noGrp="1"/>
          </p:cNvSpPr>
          <p:nvPr>
            <p:ph type="sldNum" sz="quarter" idx="12"/>
          </p:nvPr>
        </p:nvSpPr>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168980687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2/3/20XX</a:t>
            </a:r>
            <a:endParaRPr lang="en-US" dirty="0"/>
          </a:p>
        </p:txBody>
      </p:sp>
      <p:sp>
        <p:nvSpPr>
          <p:cNvPr id="3" name="Footer Placeholder 2"/>
          <p:cNvSpPr>
            <a:spLocks noGrp="1"/>
          </p:cNvSpPr>
          <p:nvPr>
            <p:ph type="ftr" sz="quarter" idx="11"/>
          </p:nvPr>
        </p:nvSpPr>
        <p:spPr/>
        <p:txBody>
          <a:bodyPr/>
          <a:lstStyle/>
          <a:p>
            <a:pPr algn="ctr"/>
            <a:r>
              <a:rPr lang="en-US"/>
              <a:t>Presentation Title</a:t>
            </a:r>
            <a:endParaRPr lang="en-US" dirty="0"/>
          </a:p>
        </p:txBody>
      </p:sp>
      <p:sp>
        <p:nvSpPr>
          <p:cNvPr id="4" name="Slide Number Placeholder 3"/>
          <p:cNvSpPr>
            <a:spLocks noGrp="1"/>
          </p:cNvSpPr>
          <p:nvPr>
            <p:ph type="sldNum" sz="quarter" idx="12"/>
          </p:nvPr>
        </p:nvSpPr>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247150887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2/3/20XX</a:t>
            </a:r>
            <a:endParaRPr lang="en-US" dirty="0"/>
          </a:p>
        </p:txBody>
      </p:sp>
      <p:sp>
        <p:nvSpPr>
          <p:cNvPr id="6" name="Footer Placeholder 5"/>
          <p:cNvSpPr>
            <a:spLocks noGrp="1"/>
          </p:cNvSpPr>
          <p:nvPr>
            <p:ph type="ftr" sz="quarter" idx="11"/>
          </p:nvPr>
        </p:nvSpPr>
        <p:spPr/>
        <p:txBody>
          <a:bodyPr/>
          <a:lstStyle/>
          <a:p>
            <a:pPr algn="ctr"/>
            <a:r>
              <a:rPr lang="en-US"/>
              <a:t>Presentation Title</a:t>
            </a:r>
            <a:endParaRPr lang="en-US" dirty="0"/>
          </a:p>
        </p:txBody>
      </p:sp>
      <p:sp>
        <p:nvSpPr>
          <p:cNvPr id="7" name="Slide Number Placeholder 6"/>
          <p:cNvSpPr>
            <a:spLocks noGrp="1"/>
          </p:cNvSpPr>
          <p:nvPr>
            <p:ph type="sldNum" sz="quarter" idx="12"/>
          </p:nvPr>
        </p:nvSpPr>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339076156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2/3/20XX</a:t>
            </a:r>
            <a:endParaRPr lang="en-US" dirty="0"/>
          </a:p>
        </p:txBody>
      </p:sp>
      <p:sp>
        <p:nvSpPr>
          <p:cNvPr id="6" name="Footer Placeholder 5"/>
          <p:cNvSpPr>
            <a:spLocks noGrp="1"/>
          </p:cNvSpPr>
          <p:nvPr>
            <p:ph type="ftr" sz="quarter" idx="11"/>
          </p:nvPr>
        </p:nvSpPr>
        <p:spPr/>
        <p:txBody>
          <a:bodyPr/>
          <a:lstStyle/>
          <a:p>
            <a:pPr algn="ctr"/>
            <a:r>
              <a:rPr lang="en-US"/>
              <a:t>Presentation Title</a:t>
            </a:r>
            <a:endParaRPr lang="en-US" dirty="0"/>
          </a:p>
        </p:txBody>
      </p:sp>
      <p:sp>
        <p:nvSpPr>
          <p:cNvPr id="7" name="Slide Number Placeholder 6"/>
          <p:cNvSpPr>
            <a:spLocks noGrp="1"/>
          </p:cNvSpPr>
          <p:nvPr>
            <p:ph type="sldNum" sz="quarter" idx="12"/>
          </p:nvPr>
        </p:nvSpPr>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234984149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2/3/20XX</a:t>
            </a:r>
            <a:endParaRPr lang="en-US" dirty="0"/>
          </a:p>
        </p:txBody>
      </p:sp>
      <p:sp>
        <p:nvSpPr>
          <p:cNvPr id="5" name="Footer Placeholder 4"/>
          <p:cNvSpPr>
            <a:spLocks noGrp="1"/>
          </p:cNvSpPr>
          <p:nvPr>
            <p:ph type="ftr" sz="quarter" idx="11"/>
          </p:nvPr>
        </p:nvSpPr>
        <p:spPr/>
        <p:txBody>
          <a:bodyPr/>
          <a:lstStyle/>
          <a:p>
            <a:pPr algn="ctr"/>
            <a:r>
              <a:rPr lang="en-US"/>
              <a:t>Presentation Title</a:t>
            </a:r>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382071584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2/3/20XX</a:t>
            </a:r>
            <a:endParaRPr lang="en-US" dirty="0"/>
          </a:p>
        </p:txBody>
      </p:sp>
      <p:sp>
        <p:nvSpPr>
          <p:cNvPr id="5" name="Footer Placeholder 4"/>
          <p:cNvSpPr>
            <a:spLocks noGrp="1"/>
          </p:cNvSpPr>
          <p:nvPr>
            <p:ph type="ftr" sz="quarter" idx="11"/>
          </p:nvPr>
        </p:nvSpPr>
        <p:spPr/>
        <p:txBody>
          <a:bodyPr/>
          <a:lstStyle/>
          <a:p>
            <a:pPr algn="ctr"/>
            <a:r>
              <a:rPr lang="en-US"/>
              <a:t>Presentation Title</a:t>
            </a:r>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56346345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2/3/20XX</a:t>
            </a:r>
            <a:endParaRPr lang="en-US" dirty="0"/>
          </a:p>
        </p:txBody>
      </p:sp>
      <p:sp>
        <p:nvSpPr>
          <p:cNvPr id="5" name="Footer Placeholder 4"/>
          <p:cNvSpPr>
            <a:spLocks noGrp="1"/>
          </p:cNvSpPr>
          <p:nvPr>
            <p:ph type="ftr" sz="quarter" idx="11"/>
          </p:nvPr>
        </p:nvSpPr>
        <p:spPr/>
        <p:txBody>
          <a:bodyPr/>
          <a:lstStyle/>
          <a:p>
            <a:pPr algn="ctr"/>
            <a:r>
              <a:rPr lang="en-US"/>
              <a:t>Presentation Title</a:t>
            </a:r>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214135392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2/3/20XX</a:t>
            </a:r>
            <a:endParaRPr lang="en-US" dirty="0"/>
          </a:p>
        </p:txBody>
      </p:sp>
      <p:sp>
        <p:nvSpPr>
          <p:cNvPr id="5" name="Footer Placeholder 4"/>
          <p:cNvSpPr>
            <a:spLocks noGrp="1"/>
          </p:cNvSpPr>
          <p:nvPr>
            <p:ph type="ftr" sz="quarter" idx="11"/>
          </p:nvPr>
        </p:nvSpPr>
        <p:spPr/>
        <p:txBody>
          <a:bodyPr/>
          <a:lstStyle/>
          <a:p>
            <a:pPr algn="ctr"/>
            <a:r>
              <a:rPr lang="en-US"/>
              <a:t>Presentation Title</a:t>
            </a:r>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4764119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2/3/20XX</a:t>
            </a:r>
            <a:endParaRPr lang="en-US" dirty="0"/>
          </a:p>
        </p:txBody>
      </p:sp>
      <p:sp>
        <p:nvSpPr>
          <p:cNvPr id="5" name="Footer Placeholder 4"/>
          <p:cNvSpPr>
            <a:spLocks noGrp="1"/>
          </p:cNvSpPr>
          <p:nvPr>
            <p:ph type="ftr" sz="quarter" idx="11"/>
          </p:nvPr>
        </p:nvSpPr>
        <p:spPr/>
        <p:txBody>
          <a:bodyPr/>
          <a:lstStyle/>
          <a:p>
            <a:pPr algn="ctr"/>
            <a:r>
              <a:rPr lang="en-US"/>
              <a:t>Presentation Title</a:t>
            </a:r>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398130758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2/3/20XX</a:t>
            </a:r>
            <a:endParaRPr lang="en-US" dirty="0"/>
          </a:p>
        </p:txBody>
      </p:sp>
      <p:sp>
        <p:nvSpPr>
          <p:cNvPr id="5" name="Footer Placeholder 4"/>
          <p:cNvSpPr>
            <a:spLocks noGrp="1"/>
          </p:cNvSpPr>
          <p:nvPr>
            <p:ph type="ftr" sz="quarter" idx="11"/>
          </p:nvPr>
        </p:nvSpPr>
        <p:spPr/>
        <p:txBody>
          <a:bodyPr/>
          <a:lstStyle/>
          <a:p>
            <a:pPr algn="ctr"/>
            <a:r>
              <a:rPr lang="en-US"/>
              <a:t>Presentation Title</a:t>
            </a:r>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28354401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2/3/20XX</a:t>
            </a:r>
            <a:endParaRPr lang="en-US" dirty="0"/>
          </a:p>
        </p:txBody>
      </p:sp>
      <p:sp>
        <p:nvSpPr>
          <p:cNvPr id="5" name="Footer Placeholder 4"/>
          <p:cNvSpPr>
            <a:spLocks noGrp="1"/>
          </p:cNvSpPr>
          <p:nvPr>
            <p:ph type="ftr" sz="quarter" idx="11"/>
          </p:nvPr>
        </p:nvSpPr>
        <p:spPr/>
        <p:txBody>
          <a:bodyPr/>
          <a:lstStyle/>
          <a:p>
            <a:pPr algn="ctr"/>
            <a:r>
              <a:rPr lang="en-US"/>
              <a:t>Presentation Title</a:t>
            </a:r>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1579996694"/>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US"/>
              <a:t>2/3/20XX</a:t>
            </a:r>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lgn="ctr"/>
            <a:r>
              <a:rPr lang="en-US"/>
              <a:t>Presentation Title</a:t>
            </a:r>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AEF9944-A4F6-4C59-AEBD-678D6480B8EA}" type="slidenum">
              <a:rPr lang="en-US" smtClean="0"/>
              <a:t>‹#›</a:t>
            </a:fld>
            <a:endParaRPr lang="en-US" dirty="0"/>
          </a:p>
        </p:txBody>
      </p:sp>
    </p:spTree>
    <p:extLst>
      <p:ext uri="{BB962C8B-B14F-4D97-AF65-F5344CB8AC3E}">
        <p14:creationId xmlns:p14="http://schemas.microsoft.com/office/powerpoint/2010/main" val="39046233"/>
      </p:ext>
    </p:extLst>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 id="2147483846" r:id="rId11"/>
    <p:sldLayoutId id="2147483847" r:id="rId12"/>
    <p:sldLayoutId id="2147483848" r:id="rId13"/>
    <p:sldLayoutId id="2147483849" r:id="rId14"/>
    <p:sldLayoutId id="2147483850" r:id="rId15"/>
    <p:sldLayoutId id="2147483851"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7.xml"/><Relationship Id="rId4" Type="http://schemas.openxmlformats.org/officeDocument/2006/relationships/image" Target="../media/image18.jpg"/></Relationships>
</file>

<file path=ppt/slides/_rels/slide1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DEC83E7-7716-3FD8-CD14-3236AFE133DF}"/>
              </a:ext>
            </a:extLst>
          </p:cNvPr>
          <p:cNvPicPr>
            <a:picLocks noChangeAspect="1"/>
          </p:cNvPicPr>
          <p:nvPr/>
        </p:nvPicPr>
        <p:blipFill>
          <a:blip r:embed="rId2"/>
          <a:stretch>
            <a:fillRect/>
          </a:stretch>
        </p:blipFill>
        <p:spPr>
          <a:xfrm>
            <a:off x="927100" y="146050"/>
            <a:ext cx="8382000" cy="1047750"/>
          </a:xfrm>
          <a:prstGeom prst="rect">
            <a:avLst/>
          </a:prstGeom>
        </p:spPr>
      </p:pic>
      <p:sp>
        <p:nvSpPr>
          <p:cNvPr id="6" name="TextBox 5">
            <a:extLst>
              <a:ext uri="{FF2B5EF4-FFF2-40B4-BE49-F238E27FC236}">
                <a16:creationId xmlns:a16="http://schemas.microsoft.com/office/drawing/2014/main" id="{736B2211-5004-3666-DB74-9A9B58FC4E00}"/>
              </a:ext>
            </a:extLst>
          </p:cNvPr>
          <p:cNvSpPr txBox="1"/>
          <p:nvPr/>
        </p:nvSpPr>
        <p:spPr>
          <a:xfrm>
            <a:off x="635000" y="1606034"/>
            <a:ext cx="8939922" cy="1754326"/>
          </a:xfrm>
          <a:prstGeom prst="rect">
            <a:avLst/>
          </a:prstGeom>
          <a:noFill/>
        </p:spPr>
        <p:txBody>
          <a:bodyPr wrap="square" rtlCol="0">
            <a:spAutoFit/>
          </a:bodyPr>
          <a:lstStyle/>
          <a:p>
            <a:r>
              <a:rPr lang="en-IN" sz="3600" b="1" dirty="0"/>
              <a:t>              SMART AGRICULTURE USING</a:t>
            </a:r>
          </a:p>
          <a:p>
            <a:r>
              <a:rPr lang="en-IN" sz="3600" b="1" dirty="0"/>
              <a:t>                ARTIFICIAL INTELLIGENCE</a:t>
            </a:r>
          </a:p>
          <a:p>
            <a:r>
              <a:rPr lang="en-IN" sz="3600" b="1" dirty="0"/>
              <a:t>                </a:t>
            </a:r>
          </a:p>
        </p:txBody>
      </p:sp>
      <p:sp>
        <p:nvSpPr>
          <p:cNvPr id="7" name="TextBox 6">
            <a:extLst>
              <a:ext uri="{FF2B5EF4-FFF2-40B4-BE49-F238E27FC236}">
                <a16:creationId xmlns:a16="http://schemas.microsoft.com/office/drawing/2014/main" id="{110263E9-AA4D-09CB-09A0-00915F58AA66}"/>
              </a:ext>
            </a:extLst>
          </p:cNvPr>
          <p:cNvSpPr txBox="1"/>
          <p:nvPr/>
        </p:nvSpPr>
        <p:spPr>
          <a:xfrm>
            <a:off x="8331200" y="4749800"/>
            <a:ext cx="184731" cy="830997"/>
          </a:xfrm>
          <a:prstGeom prst="rect">
            <a:avLst/>
          </a:prstGeom>
          <a:noFill/>
        </p:spPr>
        <p:txBody>
          <a:bodyPr wrap="none" rtlCol="0">
            <a:spAutoFit/>
          </a:bodyPr>
          <a:lstStyle/>
          <a:p>
            <a:endParaRPr lang="en-IN" sz="2400" dirty="0"/>
          </a:p>
          <a:p>
            <a:endParaRPr lang="en-IN" sz="2400" dirty="0"/>
          </a:p>
        </p:txBody>
      </p:sp>
      <p:sp>
        <p:nvSpPr>
          <p:cNvPr id="8" name="TextBox 7">
            <a:extLst>
              <a:ext uri="{FF2B5EF4-FFF2-40B4-BE49-F238E27FC236}">
                <a16:creationId xmlns:a16="http://schemas.microsoft.com/office/drawing/2014/main" id="{6F00EDD9-9AA9-1A1C-A2FA-21C3E3A0FCEF}"/>
              </a:ext>
            </a:extLst>
          </p:cNvPr>
          <p:cNvSpPr txBox="1"/>
          <p:nvPr/>
        </p:nvSpPr>
        <p:spPr>
          <a:xfrm>
            <a:off x="3886200" y="2852528"/>
            <a:ext cx="2941062" cy="1015663"/>
          </a:xfrm>
          <a:prstGeom prst="rect">
            <a:avLst/>
          </a:prstGeom>
          <a:noFill/>
        </p:spPr>
        <p:txBody>
          <a:bodyPr wrap="none" rtlCol="0">
            <a:spAutoFit/>
          </a:bodyPr>
          <a:lstStyle/>
          <a:p>
            <a:r>
              <a:rPr lang="en-IN" sz="2000" dirty="0"/>
              <a:t>       Presented By</a:t>
            </a:r>
          </a:p>
          <a:p>
            <a:r>
              <a:rPr lang="en-IN" sz="2000" dirty="0"/>
              <a:t>Name: Keerthana Reddy</a:t>
            </a:r>
          </a:p>
          <a:p>
            <a:r>
              <a:rPr lang="en-IN" sz="2000" dirty="0"/>
              <a:t> Roll No: 22671A7229  </a:t>
            </a:r>
          </a:p>
        </p:txBody>
      </p:sp>
      <p:sp>
        <p:nvSpPr>
          <p:cNvPr id="9" name="TextBox 8">
            <a:extLst>
              <a:ext uri="{FF2B5EF4-FFF2-40B4-BE49-F238E27FC236}">
                <a16:creationId xmlns:a16="http://schemas.microsoft.com/office/drawing/2014/main" id="{F17BEA45-77EB-53FC-7BBE-0605EED1F6B6}"/>
              </a:ext>
            </a:extLst>
          </p:cNvPr>
          <p:cNvSpPr txBox="1"/>
          <p:nvPr/>
        </p:nvSpPr>
        <p:spPr>
          <a:xfrm>
            <a:off x="4338788" y="3985735"/>
            <a:ext cx="1757212" cy="923330"/>
          </a:xfrm>
          <a:prstGeom prst="rect">
            <a:avLst/>
          </a:prstGeom>
          <a:noFill/>
        </p:spPr>
        <p:txBody>
          <a:bodyPr wrap="none" rtlCol="0">
            <a:spAutoFit/>
          </a:bodyPr>
          <a:lstStyle/>
          <a:p>
            <a:r>
              <a:rPr lang="en-IN" dirty="0"/>
              <a:t>  Guide Name:</a:t>
            </a:r>
          </a:p>
          <a:p>
            <a:r>
              <a:rPr lang="en-IN" dirty="0"/>
              <a:t>“</a:t>
            </a:r>
            <a:r>
              <a:rPr lang="en-IN" b="1" dirty="0" err="1"/>
              <a:t>D</a:t>
            </a:r>
            <a:r>
              <a:rPr lang="en-IN" dirty="0" err="1"/>
              <a:t>.</a:t>
            </a:r>
            <a:r>
              <a:rPr lang="en-IN" b="1" dirty="0" err="1"/>
              <a:t>Damodhar</a:t>
            </a:r>
            <a:r>
              <a:rPr lang="en-IN" dirty="0"/>
              <a:t>”</a:t>
            </a:r>
          </a:p>
          <a:p>
            <a:r>
              <a:rPr lang="en-IN" dirty="0"/>
              <a:t>   </a:t>
            </a:r>
          </a:p>
        </p:txBody>
      </p:sp>
      <p:sp>
        <p:nvSpPr>
          <p:cNvPr id="10" name="TextBox 9">
            <a:extLst>
              <a:ext uri="{FF2B5EF4-FFF2-40B4-BE49-F238E27FC236}">
                <a16:creationId xmlns:a16="http://schemas.microsoft.com/office/drawing/2014/main" id="{9EF3A79C-BCE3-54C2-0D6B-6882D13B52B9}"/>
              </a:ext>
            </a:extLst>
          </p:cNvPr>
          <p:cNvSpPr txBox="1"/>
          <p:nvPr/>
        </p:nvSpPr>
        <p:spPr>
          <a:xfrm>
            <a:off x="4559300" y="4657277"/>
            <a:ext cx="2768600" cy="369332"/>
          </a:xfrm>
          <a:prstGeom prst="rect">
            <a:avLst/>
          </a:prstGeom>
          <a:noFill/>
        </p:spPr>
        <p:txBody>
          <a:bodyPr wrap="square" rtlCol="0">
            <a:spAutoFit/>
          </a:bodyPr>
          <a:lstStyle/>
          <a:p>
            <a:r>
              <a:rPr lang="en-IN" dirty="0"/>
              <a:t>Designation</a:t>
            </a:r>
          </a:p>
        </p:txBody>
      </p:sp>
      <p:sp>
        <p:nvSpPr>
          <p:cNvPr id="12" name="TextBox 11">
            <a:extLst>
              <a:ext uri="{FF2B5EF4-FFF2-40B4-BE49-F238E27FC236}">
                <a16:creationId xmlns:a16="http://schemas.microsoft.com/office/drawing/2014/main" id="{12191076-71FA-F233-B4ED-F7380D8D4F06}"/>
              </a:ext>
            </a:extLst>
          </p:cNvPr>
          <p:cNvSpPr txBox="1"/>
          <p:nvPr/>
        </p:nvSpPr>
        <p:spPr>
          <a:xfrm>
            <a:off x="4092685" y="4998618"/>
            <a:ext cx="3324115" cy="646331"/>
          </a:xfrm>
          <a:prstGeom prst="rect">
            <a:avLst/>
          </a:prstGeom>
          <a:noFill/>
        </p:spPr>
        <p:txBody>
          <a:bodyPr wrap="none" rtlCol="0">
            <a:spAutoFit/>
          </a:bodyPr>
          <a:lstStyle/>
          <a:p>
            <a:r>
              <a:rPr lang="en-IN" dirty="0"/>
              <a:t>DEPARTMENT OF AIDS&amp;CSE(DS)</a:t>
            </a:r>
          </a:p>
          <a:p>
            <a:endParaRPr lang="en-IN" dirty="0"/>
          </a:p>
        </p:txBody>
      </p:sp>
      <p:sp>
        <p:nvSpPr>
          <p:cNvPr id="13" name="TextBox 12">
            <a:extLst>
              <a:ext uri="{FF2B5EF4-FFF2-40B4-BE49-F238E27FC236}">
                <a16:creationId xmlns:a16="http://schemas.microsoft.com/office/drawing/2014/main" id="{A8C09300-60AE-B72E-8D71-CC7C24A76A19}"/>
              </a:ext>
            </a:extLst>
          </p:cNvPr>
          <p:cNvSpPr txBox="1"/>
          <p:nvPr/>
        </p:nvSpPr>
        <p:spPr>
          <a:xfrm>
            <a:off x="3171823" y="5367950"/>
            <a:ext cx="5165838" cy="369332"/>
          </a:xfrm>
          <a:prstGeom prst="rect">
            <a:avLst/>
          </a:prstGeom>
          <a:noFill/>
        </p:spPr>
        <p:txBody>
          <a:bodyPr wrap="none" rtlCol="0">
            <a:spAutoFit/>
          </a:bodyPr>
          <a:lstStyle/>
          <a:p>
            <a:r>
              <a:rPr lang="en-IN" dirty="0"/>
              <a:t>J.B.INSTITUTE OF ENGINEERING &amp; TECHNOLOGY</a:t>
            </a:r>
          </a:p>
        </p:txBody>
      </p:sp>
    </p:spTree>
    <p:extLst>
      <p:ext uri="{BB962C8B-B14F-4D97-AF65-F5344CB8AC3E}">
        <p14:creationId xmlns:p14="http://schemas.microsoft.com/office/powerpoint/2010/main" val="11986449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C8A80D9-6010-EC65-B10F-EA663A8B1784}"/>
              </a:ext>
            </a:extLst>
          </p:cNvPr>
          <p:cNvSpPr txBox="1"/>
          <p:nvPr/>
        </p:nvSpPr>
        <p:spPr>
          <a:xfrm>
            <a:off x="4203700" y="215900"/>
            <a:ext cx="2234907" cy="646331"/>
          </a:xfrm>
          <a:prstGeom prst="rect">
            <a:avLst/>
          </a:prstGeom>
          <a:noFill/>
        </p:spPr>
        <p:txBody>
          <a:bodyPr wrap="none" rtlCol="0">
            <a:spAutoFit/>
          </a:bodyPr>
          <a:lstStyle/>
          <a:p>
            <a:r>
              <a:rPr lang="en-IN" sz="3600" b="1" dirty="0">
                <a:latin typeface="+mj-lt"/>
              </a:rPr>
              <a:t>CONTENT</a:t>
            </a:r>
          </a:p>
        </p:txBody>
      </p:sp>
      <p:sp>
        <p:nvSpPr>
          <p:cNvPr id="3" name="TextBox 2">
            <a:extLst>
              <a:ext uri="{FF2B5EF4-FFF2-40B4-BE49-F238E27FC236}">
                <a16:creationId xmlns:a16="http://schemas.microsoft.com/office/drawing/2014/main" id="{DB1A2AA0-99FB-41DA-D01B-88ABA0AC4FB8}"/>
              </a:ext>
            </a:extLst>
          </p:cNvPr>
          <p:cNvSpPr txBox="1"/>
          <p:nvPr/>
        </p:nvSpPr>
        <p:spPr>
          <a:xfrm>
            <a:off x="3683000" y="965200"/>
            <a:ext cx="4437433" cy="6740307"/>
          </a:xfrm>
          <a:prstGeom prst="rect">
            <a:avLst/>
          </a:prstGeom>
          <a:noFill/>
        </p:spPr>
        <p:txBody>
          <a:bodyPr wrap="none" rtlCol="0">
            <a:spAutoFit/>
          </a:bodyPr>
          <a:lstStyle/>
          <a:p>
            <a:pPr marL="342900" indent="-342900">
              <a:buAutoNum type="arabicPeriod"/>
            </a:pPr>
            <a:r>
              <a:rPr lang="en-IN" dirty="0"/>
              <a:t>Introduction</a:t>
            </a:r>
          </a:p>
          <a:p>
            <a:pPr marL="342900" indent="-342900">
              <a:buAutoNum type="arabicPeriod"/>
            </a:pPr>
            <a:endParaRPr lang="en-IN" dirty="0"/>
          </a:p>
          <a:p>
            <a:pPr marL="342900" indent="-342900">
              <a:buAutoNum type="arabicPeriod"/>
            </a:pPr>
            <a:r>
              <a:rPr lang="en-IN" dirty="0"/>
              <a:t>Role</a:t>
            </a:r>
          </a:p>
          <a:p>
            <a:pPr marL="342900" indent="-342900">
              <a:buAutoNum type="arabicPeriod"/>
            </a:pPr>
            <a:endParaRPr lang="en-IN" dirty="0"/>
          </a:p>
          <a:p>
            <a:pPr marL="342900" indent="-342900">
              <a:buAutoNum type="arabicPeriod"/>
            </a:pPr>
            <a:r>
              <a:rPr lang="en-IN" dirty="0"/>
              <a:t>Source of data</a:t>
            </a:r>
          </a:p>
          <a:p>
            <a:pPr marL="342900" indent="-342900">
              <a:buAutoNum type="arabicPeriod"/>
            </a:pPr>
            <a:endParaRPr lang="en-IN" dirty="0"/>
          </a:p>
          <a:p>
            <a:pPr marL="342900" indent="-342900">
              <a:buAutoNum type="arabicPeriod"/>
            </a:pPr>
            <a:r>
              <a:rPr lang="en-IN" dirty="0"/>
              <a:t>Models and algorithms</a:t>
            </a:r>
          </a:p>
          <a:p>
            <a:pPr marL="342900" indent="-342900">
              <a:buAutoNum type="arabicPeriod"/>
            </a:pPr>
            <a:endParaRPr lang="en-IN" dirty="0"/>
          </a:p>
          <a:p>
            <a:pPr marL="342900" indent="-342900">
              <a:buAutoNum type="arabicPeriod"/>
            </a:pPr>
            <a:r>
              <a:rPr lang="en-IN" dirty="0"/>
              <a:t>Flow charts and intermediate outputs</a:t>
            </a:r>
          </a:p>
          <a:p>
            <a:pPr marL="342900" indent="-342900">
              <a:buAutoNum type="arabicPeriod"/>
            </a:pPr>
            <a:endParaRPr lang="en-IN" dirty="0"/>
          </a:p>
          <a:p>
            <a:pPr marL="342900" indent="-342900">
              <a:buAutoNum type="arabicPeriod"/>
            </a:pPr>
            <a:r>
              <a:rPr lang="en-IN" dirty="0"/>
              <a:t>Benefits</a:t>
            </a:r>
          </a:p>
          <a:p>
            <a:pPr marL="342900" indent="-342900">
              <a:buAutoNum type="arabicPeriod"/>
            </a:pPr>
            <a:endParaRPr lang="en-IN" dirty="0"/>
          </a:p>
          <a:p>
            <a:pPr marL="342900" indent="-342900">
              <a:buAutoNum type="arabicPeriod"/>
            </a:pPr>
            <a:r>
              <a:rPr lang="en-IN" dirty="0"/>
              <a:t>Source Code</a:t>
            </a:r>
          </a:p>
          <a:p>
            <a:pPr marL="342900" indent="-342900">
              <a:buAutoNum type="arabicPeriod"/>
            </a:pPr>
            <a:endParaRPr lang="en-IN" dirty="0"/>
          </a:p>
          <a:p>
            <a:pPr marL="342900" indent="-342900">
              <a:buAutoNum type="arabicPeriod"/>
            </a:pPr>
            <a:r>
              <a:rPr lang="en-IN" dirty="0"/>
              <a:t>Challenges</a:t>
            </a:r>
          </a:p>
          <a:p>
            <a:pPr marL="342900" indent="-342900">
              <a:buAutoNum type="arabicPeriod"/>
            </a:pPr>
            <a:endParaRPr lang="en-IN" dirty="0"/>
          </a:p>
          <a:p>
            <a:pPr marL="342900" indent="-342900">
              <a:buAutoNum type="arabicPeriod"/>
            </a:pPr>
            <a:r>
              <a:rPr lang="en-IN" dirty="0"/>
              <a:t>Complete details of project</a:t>
            </a:r>
          </a:p>
          <a:p>
            <a:pPr marL="342900" indent="-342900">
              <a:buAutoNum type="arabicPeriod"/>
            </a:pPr>
            <a:endParaRPr lang="en-IN" dirty="0"/>
          </a:p>
          <a:p>
            <a:pPr marL="342900" indent="-342900">
              <a:buAutoNum type="arabicPeriod"/>
            </a:pPr>
            <a:r>
              <a:rPr lang="en-IN" dirty="0"/>
              <a:t>Conclusion</a:t>
            </a:r>
          </a:p>
          <a:p>
            <a:pPr marL="342900" indent="-342900">
              <a:buAutoNum type="arabicPeriod"/>
            </a:pPr>
            <a:endParaRPr lang="en-IN" dirty="0"/>
          </a:p>
          <a:p>
            <a:pPr marL="342900" indent="-342900">
              <a:buAutoNum type="arabicPeriod"/>
            </a:pPr>
            <a:endParaRPr lang="en-IN" dirty="0"/>
          </a:p>
          <a:p>
            <a:pPr marL="342900" indent="-342900">
              <a:buAutoNum type="arabicPeriod"/>
            </a:pPr>
            <a:endParaRPr lang="en-IN" dirty="0"/>
          </a:p>
          <a:p>
            <a:pPr marL="342900" indent="-342900">
              <a:buAutoNum type="arabicPeriod"/>
            </a:pPr>
            <a:endParaRPr lang="en-IN" dirty="0"/>
          </a:p>
          <a:p>
            <a:pPr marL="342900" indent="-342900">
              <a:buAutoNum type="arabicPeriod"/>
            </a:pPr>
            <a:endParaRPr lang="en-IN" dirty="0"/>
          </a:p>
        </p:txBody>
      </p:sp>
    </p:spTree>
    <p:extLst>
      <p:ext uri="{BB962C8B-B14F-4D97-AF65-F5344CB8AC3E}">
        <p14:creationId xmlns:p14="http://schemas.microsoft.com/office/powerpoint/2010/main" val="17688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6438900" y="0"/>
            <a:ext cx="5753100" cy="6858000"/>
          </a:xfrm>
          <a:prstGeom prst="rect">
            <a:avLst/>
          </a:prstGeom>
        </p:spPr>
      </p:pic>
      <p:sp>
        <p:nvSpPr>
          <p:cNvPr id="5" name="TextBox 4"/>
          <p:cNvSpPr txBox="1"/>
          <p:nvPr/>
        </p:nvSpPr>
        <p:spPr>
          <a:xfrm>
            <a:off x="1147334" y="88901"/>
            <a:ext cx="4328670" cy="584775"/>
          </a:xfrm>
          <a:prstGeom prst="rect">
            <a:avLst/>
          </a:prstGeom>
          <a:noFill/>
        </p:spPr>
        <p:txBody>
          <a:bodyPr wrap="square" rtlCol="0">
            <a:spAutoFit/>
          </a:bodyPr>
          <a:lstStyle/>
          <a:p>
            <a:r>
              <a:rPr lang="en-IN" sz="3200" b="1" dirty="0"/>
              <a:t>INTRODUCTION</a:t>
            </a:r>
          </a:p>
        </p:txBody>
      </p:sp>
      <p:sp>
        <p:nvSpPr>
          <p:cNvPr id="10" name="TextBox 9"/>
          <p:cNvSpPr txBox="1"/>
          <p:nvPr/>
        </p:nvSpPr>
        <p:spPr>
          <a:xfrm>
            <a:off x="452209" y="892884"/>
            <a:ext cx="3957336" cy="461665"/>
          </a:xfrm>
          <a:prstGeom prst="rect">
            <a:avLst/>
          </a:prstGeom>
          <a:noFill/>
        </p:spPr>
        <p:txBody>
          <a:bodyPr wrap="square" rtlCol="0">
            <a:spAutoFit/>
          </a:bodyPr>
          <a:lstStyle/>
          <a:p>
            <a:r>
              <a:rPr lang="en-IN" sz="2000" b="1" dirty="0"/>
              <a:t>What</a:t>
            </a:r>
            <a:r>
              <a:rPr lang="en-IN" dirty="0"/>
              <a:t> </a:t>
            </a:r>
            <a:r>
              <a:rPr lang="en-IN" sz="2000" b="1" dirty="0"/>
              <a:t>is</a:t>
            </a:r>
            <a:r>
              <a:rPr lang="en-IN" dirty="0"/>
              <a:t> </a:t>
            </a:r>
            <a:r>
              <a:rPr lang="en-IN" sz="2000" b="1" u="sng" dirty="0"/>
              <a:t>smart</a:t>
            </a:r>
            <a:r>
              <a:rPr lang="en-IN" sz="2000" b="1" dirty="0"/>
              <a:t> </a:t>
            </a:r>
            <a:r>
              <a:rPr lang="en-IN" sz="2000" b="1" dirty="0">
                <a:latin typeface="+mj-lt"/>
              </a:rPr>
              <a:t>agriculture</a:t>
            </a:r>
            <a:r>
              <a:rPr lang="en-IN" sz="2400" dirty="0"/>
              <a:t>?</a:t>
            </a:r>
            <a:r>
              <a:rPr lang="en-IN" sz="2000" dirty="0"/>
              <a:t> </a:t>
            </a:r>
          </a:p>
        </p:txBody>
      </p:sp>
      <p:pic>
        <p:nvPicPr>
          <p:cNvPr id="6" name="Picture 5"/>
          <p:cNvPicPr>
            <a:picLocks noChangeAspect="1"/>
          </p:cNvPicPr>
          <p:nvPr/>
        </p:nvPicPr>
        <p:blipFill>
          <a:blip r:embed="rId4"/>
          <a:stretch>
            <a:fillRect/>
          </a:stretch>
        </p:blipFill>
        <p:spPr>
          <a:xfrm>
            <a:off x="6004552" y="3243056"/>
            <a:ext cx="182896" cy="371888"/>
          </a:xfrm>
          <a:prstGeom prst="rect">
            <a:avLst/>
          </a:prstGeom>
        </p:spPr>
      </p:pic>
      <p:sp>
        <p:nvSpPr>
          <p:cNvPr id="9" name="TextBox 8"/>
          <p:cNvSpPr txBox="1"/>
          <p:nvPr/>
        </p:nvSpPr>
        <p:spPr>
          <a:xfrm>
            <a:off x="103174" y="1354548"/>
            <a:ext cx="6183325" cy="2185214"/>
          </a:xfrm>
          <a:prstGeom prst="rect">
            <a:avLst/>
          </a:prstGeom>
          <a:noFill/>
        </p:spPr>
        <p:txBody>
          <a:bodyPr wrap="square" rtlCol="0">
            <a:spAutoFit/>
          </a:bodyPr>
          <a:lstStyle/>
          <a:p>
            <a:r>
              <a:rPr lang="en-IN" sz="2000" dirty="0"/>
              <a:t>Smart</a:t>
            </a:r>
            <a:r>
              <a:rPr lang="en-IN" dirty="0"/>
              <a:t> </a:t>
            </a:r>
            <a:r>
              <a:rPr lang="en-IN" sz="2000" dirty="0"/>
              <a:t>agriculture</a:t>
            </a:r>
            <a:r>
              <a:rPr lang="en-IN" dirty="0"/>
              <a:t> </a:t>
            </a:r>
            <a:r>
              <a:rPr lang="en-IN" sz="2000" dirty="0"/>
              <a:t>or</a:t>
            </a:r>
            <a:r>
              <a:rPr lang="en-IN" dirty="0"/>
              <a:t> </a:t>
            </a:r>
            <a:r>
              <a:rPr lang="en-IN" sz="2000" dirty="0"/>
              <a:t>smart</a:t>
            </a:r>
            <a:r>
              <a:rPr lang="en-IN" dirty="0"/>
              <a:t> </a:t>
            </a:r>
            <a:r>
              <a:rPr lang="en-IN" sz="2000" dirty="0"/>
              <a:t>farming</a:t>
            </a:r>
            <a:r>
              <a:rPr lang="en-IN" dirty="0"/>
              <a:t>, </a:t>
            </a:r>
            <a:r>
              <a:rPr lang="en-IN" sz="2000" dirty="0"/>
              <a:t>is</a:t>
            </a:r>
            <a:r>
              <a:rPr lang="en-IN" dirty="0"/>
              <a:t> </a:t>
            </a:r>
            <a:r>
              <a:rPr lang="en-IN" sz="2000" dirty="0"/>
              <a:t>the</a:t>
            </a:r>
            <a:r>
              <a:rPr lang="en-IN" dirty="0"/>
              <a:t> </a:t>
            </a:r>
            <a:r>
              <a:rPr lang="en-IN" sz="2000" dirty="0"/>
              <a:t>use</a:t>
            </a:r>
            <a:r>
              <a:rPr lang="en-IN" dirty="0"/>
              <a:t> </a:t>
            </a:r>
            <a:r>
              <a:rPr lang="en-IN" sz="2000" dirty="0"/>
              <a:t>of</a:t>
            </a:r>
            <a:r>
              <a:rPr lang="en-IN" dirty="0"/>
              <a:t> </a:t>
            </a:r>
          </a:p>
          <a:p>
            <a:r>
              <a:rPr lang="en-IN" sz="2000" dirty="0"/>
              <a:t>modern</a:t>
            </a:r>
            <a:r>
              <a:rPr lang="en-IN" dirty="0"/>
              <a:t> </a:t>
            </a:r>
            <a:r>
              <a:rPr lang="en-IN" sz="2000" dirty="0"/>
              <a:t>technologies</a:t>
            </a:r>
            <a:r>
              <a:rPr lang="en-IN" dirty="0"/>
              <a:t> </a:t>
            </a:r>
            <a:r>
              <a:rPr lang="en-IN" sz="2000" dirty="0"/>
              <a:t>like</a:t>
            </a:r>
            <a:r>
              <a:rPr lang="en-IN" dirty="0"/>
              <a:t> the </a:t>
            </a:r>
            <a:r>
              <a:rPr lang="en-IN" sz="2000" dirty="0"/>
              <a:t>Internet</a:t>
            </a:r>
            <a:r>
              <a:rPr lang="en-IN" dirty="0"/>
              <a:t> </a:t>
            </a:r>
            <a:r>
              <a:rPr lang="en-IN" sz="2000" dirty="0"/>
              <a:t>of</a:t>
            </a:r>
            <a:r>
              <a:rPr lang="en-IN" dirty="0"/>
              <a:t> </a:t>
            </a:r>
            <a:r>
              <a:rPr lang="en-IN" sz="2000" dirty="0"/>
              <a:t>the</a:t>
            </a:r>
            <a:r>
              <a:rPr lang="en-IN" dirty="0"/>
              <a:t> </a:t>
            </a:r>
            <a:r>
              <a:rPr lang="en-IN" sz="2000" dirty="0"/>
              <a:t>things</a:t>
            </a:r>
            <a:r>
              <a:rPr lang="en-IN" dirty="0"/>
              <a:t>(</a:t>
            </a:r>
            <a:r>
              <a:rPr lang="en-IN" sz="2000" dirty="0"/>
              <a:t>IOT</a:t>
            </a:r>
            <a:r>
              <a:rPr lang="en-IN" dirty="0"/>
              <a:t>), </a:t>
            </a:r>
            <a:r>
              <a:rPr lang="en-IN" sz="2000" dirty="0"/>
              <a:t>Artificial</a:t>
            </a:r>
            <a:r>
              <a:rPr lang="en-IN" dirty="0"/>
              <a:t> </a:t>
            </a:r>
            <a:r>
              <a:rPr lang="en-IN" sz="2000" dirty="0"/>
              <a:t>intelligence</a:t>
            </a:r>
            <a:r>
              <a:rPr lang="en-IN" dirty="0"/>
              <a:t> (</a:t>
            </a:r>
            <a:r>
              <a:rPr lang="en-IN" sz="2000" dirty="0"/>
              <a:t>AI</a:t>
            </a:r>
            <a:r>
              <a:rPr lang="en-IN" dirty="0"/>
              <a:t>) , </a:t>
            </a:r>
            <a:r>
              <a:rPr lang="en-IN" sz="2000" dirty="0"/>
              <a:t>Robotics</a:t>
            </a:r>
            <a:r>
              <a:rPr lang="en-IN" dirty="0"/>
              <a:t> </a:t>
            </a:r>
            <a:r>
              <a:rPr lang="en-IN" sz="2000" dirty="0"/>
              <a:t>and</a:t>
            </a:r>
            <a:r>
              <a:rPr lang="en-IN" dirty="0"/>
              <a:t> </a:t>
            </a:r>
            <a:r>
              <a:rPr lang="en-IN" sz="2000" dirty="0"/>
              <a:t>data</a:t>
            </a:r>
            <a:r>
              <a:rPr lang="en-IN" dirty="0"/>
              <a:t> </a:t>
            </a:r>
            <a:r>
              <a:rPr lang="en-IN" sz="2000" dirty="0"/>
              <a:t>Analytics</a:t>
            </a:r>
            <a:r>
              <a:rPr lang="en-IN" dirty="0"/>
              <a:t> </a:t>
            </a:r>
            <a:r>
              <a:rPr lang="en-IN" sz="2000" dirty="0"/>
              <a:t>to</a:t>
            </a:r>
            <a:r>
              <a:rPr lang="en-IN" dirty="0"/>
              <a:t> </a:t>
            </a:r>
            <a:r>
              <a:rPr lang="en-IN" sz="2000" dirty="0"/>
              <a:t>improve</a:t>
            </a:r>
            <a:r>
              <a:rPr lang="en-IN" dirty="0"/>
              <a:t> </a:t>
            </a:r>
            <a:r>
              <a:rPr lang="en-IN" sz="2000" dirty="0"/>
              <a:t>farm</a:t>
            </a:r>
            <a:r>
              <a:rPr lang="en-IN" dirty="0"/>
              <a:t> </a:t>
            </a:r>
            <a:r>
              <a:rPr lang="en-IN" sz="2000" dirty="0"/>
              <a:t>efficiency</a:t>
            </a:r>
            <a:r>
              <a:rPr lang="en-IN" dirty="0"/>
              <a:t>, </a:t>
            </a:r>
            <a:r>
              <a:rPr lang="en-IN" sz="2000" dirty="0"/>
              <a:t>increase</a:t>
            </a:r>
            <a:r>
              <a:rPr lang="en-IN" dirty="0"/>
              <a:t> </a:t>
            </a:r>
            <a:r>
              <a:rPr lang="en-IN" sz="2000" dirty="0"/>
              <a:t>crop</a:t>
            </a:r>
            <a:r>
              <a:rPr lang="en-IN" dirty="0"/>
              <a:t> </a:t>
            </a:r>
            <a:r>
              <a:rPr lang="en-IN" sz="2000" dirty="0"/>
              <a:t>Yields</a:t>
            </a:r>
            <a:r>
              <a:rPr lang="en-IN" dirty="0"/>
              <a:t> </a:t>
            </a:r>
            <a:r>
              <a:rPr lang="en-IN" sz="2000" dirty="0"/>
              <a:t>and</a:t>
            </a:r>
            <a:r>
              <a:rPr lang="en-IN" dirty="0"/>
              <a:t> </a:t>
            </a:r>
            <a:r>
              <a:rPr lang="en-IN" sz="2000" dirty="0"/>
              <a:t>quality</a:t>
            </a:r>
            <a:r>
              <a:rPr lang="en-IN" dirty="0"/>
              <a:t>.</a:t>
            </a:r>
          </a:p>
          <a:p>
            <a:endParaRPr lang="en-IN" dirty="0"/>
          </a:p>
          <a:p>
            <a:endParaRPr lang="en-IN" dirty="0"/>
          </a:p>
        </p:txBody>
      </p:sp>
      <p:sp>
        <p:nvSpPr>
          <p:cNvPr id="13" name="TextBox 12"/>
          <p:cNvSpPr txBox="1"/>
          <p:nvPr/>
        </p:nvSpPr>
        <p:spPr>
          <a:xfrm>
            <a:off x="103174" y="3055431"/>
            <a:ext cx="2714141" cy="400110"/>
          </a:xfrm>
          <a:prstGeom prst="rect">
            <a:avLst/>
          </a:prstGeom>
          <a:noFill/>
        </p:spPr>
        <p:txBody>
          <a:bodyPr wrap="none" rtlCol="0">
            <a:spAutoFit/>
          </a:bodyPr>
          <a:lstStyle/>
          <a:p>
            <a:r>
              <a:rPr lang="en-IN" sz="2000" b="1" dirty="0"/>
              <a:t>Why It is needed?</a:t>
            </a:r>
            <a:r>
              <a:rPr lang="en-IN" dirty="0"/>
              <a:t> </a:t>
            </a:r>
          </a:p>
        </p:txBody>
      </p:sp>
      <p:sp>
        <p:nvSpPr>
          <p:cNvPr id="15" name="TextBox 14"/>
          <p:cNvSpPr txBox="1"/>
          <p:nvPr/>
        </p:nvSpPr>
        <p:spPr>
          <a:xfrm>
            <a:off x="50057" y="3512748"/>
            <a:ext cx="6222986" cy="1015663"/>
          </a:xfrm>
          <a:prstGeom prst="rect">
            <a:avLst/>
          </a:prstGeom>
          <a:noFill/>
        </p:spPr>
        <p:txBody>
          <a:bodyPr wrap="none" rtlCol="0">
            <a:spAutoFit/>
          </a:bodyPr>
          <a:lstStyle/>
          <a:p>
            <a:r>
              <a:rPr lang="en-IN" sz="2000" dirty="0"/>
              <a:t> To increase crop yield for a growing population.</a:t>
            </a:r>
          </a:p>
          <a:p>
            <a:r>
              <a:rPr lang="en-IN" sz="2000" dirty="0"/>
              <a:t> To tackle climate change challenges.</a:t>
            </a:r>
          </a:p>
          <a:p>
            <a:r>
              <a:rPr lang="en-IN" sz="2000" dirty="0"/>
              <a:t> To ensure sustainable farming practices.</a:t>
            </a:r>
          </a:p>
        </p:txBody>
      </p:sp>
      <p:pic>
        <p:nvPicPr>
          <p:cNvPr id="12" name="Picture 11"/>
          <p:cNvPicPr>
            <a:picLocks noChangeAspect="1"/>
          </p:cNvPicPr>
          <p:nvPr/>
        </p:nvPicPr>
        <p:blipFill>
          <a:blip r:embed="rId5"/>
          <a:stretch>
            <a:fillRect/>
          </a:stretch>
        </p:blipFill>
        <p:spPr>
          <a:xfrm>
            <a:off x="1161613" y="4457026"/>
            <a:ext cx="2841740" cy="231207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1421" y="83917"/>
            <a:ext cx="4659865" cy="523220"/>
          </a:xfrm>
          <a:prstGeom prst="rect">
            <a:avLst/>
          </a:prstGeom>
          <a:noFill/>
        </p:spPr>
        <p:txBody>
          <a:bodyPr wrap="none" rtlCol="0">
            <a:spAutoFit/>
          </a:bodyPr>
          <a:lstStyle/>
          <a:p>
            <a:r>
              <a:rPr lang="en-IN" sz="2800" b="1" u="sng" dirty="0"/>
              <a:t>Role</a:t>
            </a:r>
            <a:r>
              <a:rPr lang="en-IN" sz="2400" b="1" u="sng" dirty="0"/>
              <a:t> of </a:t>
            </a:r>
            <a:r>
              <a:rPr lang="en-IN" sz="2800" b="1" u="sng" dirty="0"/>
              <a:t>AI</a:t>
            </a:r>
            <a:r>
              <a:rPr lang="en-IN" sz="2400" b="1" u="sng" dirty="0"/>
              <a:t> </a:t>
            </a:r>
            <a:r>
              <a:rPr lang="en-IN" sz="2800" b="1" u="sng" dirty="0"/>
              <a:t>in</a:t>
            </a:r>
            <a:r>
              <a:rPr lang="en-IN" sz="2400" b="1" u="sng" dirty="0"/>
              <a:t> </a:t>
            </a:r>
            <a:r>
              <a:rPr lang="en-IN" sz="2800" b="1" u="sng" dirty="0"/>
              <a:t>Agriculture</a:t>
            </a:r>
          </a:p>
        </p:txBody>
      </p:sp>
      <p:sp>
        <p:nvSpPr>
          <p:cNvPr id="3" name="TextBox 2"/>
          <p:cNvSpPr txBox="1"/>
          <p:nvPr/>
        </p:nvSpPr>
        <p:spPr>
          <a:xfrm>
            <a:off x="176499" y="885251"/>
            <a:ext cx="10797058" cy="1323439"/>
          </a:xfrm>
          <a:prstGeom prst="rect">
            <a:avLst/>
          </a:prstGeom>
          <a:noFill/>
        </p:spPr>
        <p:txBody>
          <a:bodyPr wrap="none" rtlCol="0">
            <a:spAutoFit/>
          </a:bodyPr>
          <a:lstStyle/>
          <a:p>
            <a:r>
              <a:rPr lang="en-IN" sz="2000" dirty="0"/>
              <a:t>“Artificial intelligence plays a crucial role in agriculture by helping</a:t>
            </a:r>
          </a:p>
          <a:p>
            <a:r>
              <a:rPr lang="en-IN" sz="2000" dirty="0"/>
              <a:t>Farmers make data driven decisions. From soil </a:t>
            </a:r>
            <a:r>
              <a:rPr lang="en-IN" sz="2000" dirty="0" err="1"/>
              <a:t>monitering</a:t>
            </a:r>
            <a:r>
              <a:rPr lang="en-IN" sz="2000" dirty="0"/>
              <a:t> to predictive analytics,</a:t>
            </a:r>
          </a:p>
          <a:p>
            <a:r>
              <a:rPr lang="en-IN" sz="2000" dirty="0"/>
              <a:t>AI enables smart irrigation ,pest control, and automated harvesting, ensuring higher</a:t>
            </a:r>
          </a:p>
          <a:p>
            <a:r>
              <a:rPr lang="en-IN" sz="2000" dirty="0"/>
              <a:t>Yield and sustainability.”</a:t>
            </a:r>
            <a:r>
              <a:rPr lang="en-IN" dirty="0"/>
              <a:t> </a:t>
            </a:r>
          </a:p>
        </p:txBody>
      </p:sp>
      <p:sp>
        <p:nvSpPr>
          <p:cNvPr id="4" name="TextBox 3"/>
          <p:cNvSpPr txBox="1"/>
          <p:nvPr/>
        </p:nvSpPr>
        <p:spPr>
          <a:xfrm>
            <a:off x="0" y="2460332"/>
            <a:ext cx="7184787" cy="1631216"/>
          </a:xfrm>
          <a:prstGeom prst="rect">
            <a:avLst/>
          </a:prstGeom>
          <a:noFill/>
        </p:spPr>
        <p:txBody>
          <a:bodyPr wrap="none" rtlCol="0">
            <a:spAutoFit/>
          </a:bodyPr>
          <a:lstStyle/>
          <a:p>
            <a:pPr marL="457200" indent="-457200">
              <a:buAutoNum type="arabicPeriod"/>
            </a:pPr>
            <a:r>
              <a:rPr lang="en-IN" sz="2000" b="1" dirty="0"/>
              <a:t>Crop and soil monitoring</a:t>
            </a:r>
          </a:p>
          <a:p>
            <a:r>
              <a:rPr lang="en-IN" sz="2000" b="1" dirty="0"/>
              <a:t>  </a:t>
            </a:r>
            <a:r>
              <a:rPr lang="en-IN" sz="2000" dirty="0"/>
              <a:t>crop and soil monitoring uses AI, IOT sensors,</a:t>
            </a:r>
          </a:p>
          <a:p>
            <a:r>
              <a:rPr lang="en-IN" sz="2000" dirty="0"/>
              <a:t>  drones to track soil health, crop growth and </a:t>
            </a:r>
          </a:p>
          <a:p>
            <a:r>
              <a:rPr lang="en-IN" sz="2000" dirty="0"/>
              <a:t>Environmental conditions in real-time. This helps </a:t>
            </a:r>
          </a:p>
          <a:p>
            <a:r>
              <a:rPr lang="en-IN" sz="2000" dirty="0"/>
              <a:t>Farmers to make data driven decisions for better yields.</a:t>
            </a:r>
          </a:p>
        </p:txBody>
      </p:sp>
      <p:pic>
        <p:nvPicPr>
          <p:cNvPr id="6" name="Picture 5"/>
          <p:cNvPicPr>
            <a:picLocks noChangeAspect="1"/>
          </p:cNvPicPr>
          <p:nvPr/>
        </p:nvPicPr>
        <p:blipFill>
          <a:blip r:embed="rId2"/>
          <a:stretch>
            <a:fillRect/>
          </a:stretch>
        </p:blipFill>
        <p:spPr>
          <a:xfrm>
            <a:off x="7146037" y="1913022"/>
            <a:ext cx="4869464" cy="2105526"/>
          </a:xfrm>
          <a:prstGeom prst="rect">
            <a:avLst/>
          </a:prstGeom>
        </p:spPr>
      </p:pic>
      <p:sp>
        <p:nvSpPr>
          <p:cNvPr id="7" name="TextBox 6"/>
          <p:cNvSpPr txBox="1"/>
          <p:nvPr/>
        </p:nvSpPr>
        <p:spPr>
          <a:xfrm>
            <a:off x="0" y="4265195"/>
            <a:ext cx="3166444" cy="400110"/>
          </a:xfrm>
          <a:prstGeom prst="rect">
            <a:avLst/>
          </a:prstGeom>
          <a:noFill/>
        </p:spPr>
        <p:txBody>
          <a:bodyPr wrap="none" rtlCol="0">
            <a:spAutoFit/>
          </a:bodyPr>
          <a:lstStyle/>
          <a:p>
            <a:r>
              <a:rPr lang="en-IN" sz="2000" b="1" dirty="0"/>
              <a:t>2. Predictive analytics</a:t>
            </a:r>
          </a:p>
        </p:txBody>
      </p:sp>
      <p:sp>
        <p:nvSpPr>
          <p:cNvPr id="8" name="TextBox 7"/>
          <p:cNvSpPr txBox="1"/>
          <p:nvPr/>
        </p:nvSpPr>
        <p:spPr>
          <a:xfrm>
            <a:off x="-40135" y="4792360"/>
            <a:ext cx="7126374" cy="1323439"/>
          </a:xfrm>
          <a:prstGeom prst="rect">
            <a:avLst/>
          </a:prstGeom>
          <a:noFill/>
        </p:spPr>
        <p:txBody>
          <a:bodyPr wrap="none" rtlCol="0">
            <a:spAutoFit/>
          </a:bodyPr>
          <a:lstStyle/>
          <a:p>
            <a:r>
              <a:rPr lang="en-IN" sz="2000" dirty="0"/>
              <a:t>Predictive analytics uses AI, Machine learning, and</a:t>
            </a:r>
          </a:p>
          <a:p>
            <a:r>
              <a:rPr lang="en-IN" sz="2000" dirty="0"/>
              <a:t>Big data to forecast farming outcomes.</a:t>
            </a:r>
          </a:p>
          <a:p>
            <a:r>
              <a:rPr lang="en-IN" sz="2000" dirty="0"/>
              <a:t> It analyses past And real-time data to predict weather,</a:t>
            </a:r>
          </a:p>
          <a:p>
            <a:r>
              <a:rPr lang="en-IN" sz="2000" dirty="0" err="1"/>
              <a:t>yield,soil</a:t>
            </a:r>
            <a:r>
              <a:rPr lang="en-IN" sz="2000" dirty="0"/>
              <a:t> health, and Disease risks.</a:t>
            </a:r>
          </a:p>
        </p:txBody>
      </p:sp>
      <p:pic>
        <p:nvPicPr>
          <p:cNvPr id="10" name="Picture 9"/>
          <p:cNvPicPr>
            <a:picLocks noChangeAspect="1"/>
          </p:cNvPicPr>
          <p:nvPr/>
        </p:nvPicPr>
        <p:blipFill>
          <a:blip r:embed="rId3"/>
          <a:stretch>
            <a:fillRect/>
          </a:stretch>
        </p:blipFill>
        <p:spPr>
          <a:xfrm>
            <a:off x="7086239" y="4218603"/>
            <a:ext cx="4989059" cy="247095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6253" y="481262"/>
            <a:ext cx="3657601" cy="400110"/>
          </a:xfrm>
          <a:prstGeom prst="rect">
            <a:avLst/>
          </a:prstGeom>
          <a:noFill/>
        </p:spPr>
        <p:txBody>
          <a:bodyPr wrap="square" rtlCol="0">
            <a:spAutoFit/>
          </a:bodyPr>
          <a:lstStyle/>
          <a:p>
            <a:r>
              <a:rPr lang="en-IN" sz="2000" b="1" dirty="0"/>
              <a:t>3. Smart irrigation</a:t>
            </a:r>
          </a:p>
        </p:txBody>
      </p:sp>
      <p:sp>
        <p:nvSpPr>
          <p:cNvPr id="3" name="TextBox 2"/>
          <p:cNvSpPr txBox="1"/>
          <p:nvPr/>
        </p:nvSpPr>
        <p:spPr>
          <a:xfrm>
            <a:off x="0" y="794731"/>
            <a:ext cx="6607643" cy="1508105"/>
          </a:xfrm>
          <a:prstGeom prst="rect">
            <a:avLst/>
          </a:prstGeom>
          <a:noFill/>
        </p:spPr>
        <p:txBody>
          <a:bodyPr wrap="none" rtlCol="0">
            <a:spAutoFit/>
          </a:bodyPr>
          <a:lstStyle/>
          <a:p>
            <a:r>
              <a:rPr lang="en-IN" sz="2000" dirty="0"/>
              <a:t>Smart</a:t>
            </a:r>
            <a:r>
              <a:rPr lang="en-IN" dirty="0"/>
              <a:t> irrigation uses AI, IOT sensors, and weather data</a:t>
            </a:r>
          </a:p>
          <a:p>
            <a:r>
              <a:rPr lang="en-IN" dirty="0"/>
              <a:t> to supply The right amount of water at the</a:t>
            </a:r>
          </a:p>
          <a:p>
            <a:r>
              <a:rPr lang="en-IN" dirty="0"/>
              <a:t> right time to </a:t>
            </a:r>
            <a:r>
              <a:rPr lang="en-IN" dirty="0" err="1"/>
              <a:t>crops.This</a:t>
            </a:r>
            <a:r>
              <a:rPr lang="en-IN" dirty="0"/>
              <a:t> prevents Overwatering,</a:t>
            </a:r>
          </a:p>
          <a:p>
            <a:r>
              <a:rPr lang="en-IN" dirty="0"/>
              <a:t> saves water, and improves crop health.</a:t>
            </a:r>
          </a:p>
          <a:p>
            <a:endParaRPr lang="en-IN" dirty="0"/>
          </a:p>
        </p:txBody>
      </p:sp>
      <p:pic>
        <p:nvPicPr>
          <p:cNvPr id="5" name="Picture 4"/>
          <p:cNvPicPr>
            <a:picLocks noChangeAspect="1"/>
          </p:cNvPicPr>
          <p:nvPr/>
        </p:nvPicPr>
        <p:blipFill>
          <a:blip r:embed="rId2"/>
          <a:stretch>
            <a:fillRect/>
          </a:stretch>
        </p:blipFill>
        <p:spPr>
          <a:xfrm>
            <a:off x="6749143" y="181684"/>
            <a:ext cx="5038924" cy="1921097"/>
          </a:xfrm>
          <a:prstGeom prst="rect">
            <a:avLst/>
          </a:prstGeom>
        </p:spPr>
      </p:pic>
      <p:sp>
        <p:nvSpPr>
          <p:cNvPr id="6" name="TextBox 5"/>
          <p:cNvSpPr txBox="1"/>
          <p:nvPr/>
        </p:nvSpPr>
        <p:spPr>
          <a:xfrm>
            <a:off x="0" y="2102781"/>
            <a:ext cx="4386714" cy="400110"/>
          </a:xfrm>
          <a:prstGeom prst="rect">
            <a:avLst/>
          </a:prstGeom>
          <a:noFill/>
        </p:spPr>
        <p:txBody>
          <a:bodyPr wrap="none" rtlCol="0">
            <a:spAutoFit/>
          </a:bodyPr>
          <a:lstStyle/>
          <a:p>
            <a:r>
              <a:rPr lang="en-IN" sz="2000" b="1" dirty="0"/>
              <a:t>4. Automated harvesting crops</a:t>
            </a:r>
          </a:p>
        </p:txBody>
      </p:sp>
      <p:sp>
        <p:nvSpPr>
          <p:cNvPr id="7" name="TextBox 6"/>
          <p:cNvSpPr txBox="1"/>
          <p:nvPr/>
        </p:nvSpPr>
        <p:spPr>
          <a:xfrm>
            <a:off x="96253" y="2508583"/>
            <a:ext cx="5711564" cy="1015663"/>
          </a:xfrm>
          <a:prstGeom prst="rect">
            <a:avLst/>
          </a:prstGeom>
          <a:noFill/>
        </p:spPr>
        <p:txBody>
          <a:bodyPr wrap="none" rtlCol="0">
            <a:spAutoFit/>
          </a:bodyPr>
          <a:lstStyle/>
          <a:p>
            <a:r>
              <a:rPr lang="en-IN" sz="2000" dirty="0"/>
              <a:t>Robots and drones helps in harvesting </a:t>
            </a:r>
          </a:p>
          <a:p>
            <a:r>
              <a:rPr lang="en-IN" sz="2000" dirty="0"/>
              <a:t>Crops efficiently. It ensures faster, efficient, </a:t>
            </a:r>
          </a:p>
          <a:p>
            <a:r>
              <a:rPr lang="en-IN" sz="2000" dirty="0"/>
              <a:t>And precise harvesting.</a:t>
            </a:r>
          </a:p>
        </p:txBody>
      </p:sp>
      <p:pic>
        <p:nvPicPr>
          <p:cNvPr id="11" name="Picture 10"/>
          <p:cNvPicPr>
            <a:picLocks noChangeAspect="1"/>
          </p:cNvPicPr>
          <p:nvPr/>
        </p:nvPicPr>
        <p:blipFill>
          <a:blip r:embed="rId3"/>
          <a:stretch>
            <a:fillRect/>
          </a:stretch>
        </p:blipFill>
        <p:spPr>
          <a:xfrm>
            <a:off x="6977742" y="2295586"/>
            <a:ext cx="4581725" cy="1918834"/>
          </a:xfrm>
          <a:prstGeom prst="rect">
            <a:avLst/>
          </a:prstGeom>
        </p:spPr>
      </p:pic>
      <p:sp>
        <p:nvSpPr>
          <p:cNvPr id="13" name="TextBox 12"/>
          <p:cNvSpPr txBox="1"/>
          <p:nvPr/>
        </p:nvSpPr>
        <p:spPr>
          <a:xfrm>
            <a:off x="96253" y="3731470"/>
            <a:ext cx="3726893" cy="400110"/>
          </a:xfrm>
          <a:prstGeom prst="rect">
            <a:avLst/>
          </a:prstGeom>
          <a:noFill/>
        </p:spPr>
        <p:txBody>
          <a:bodyPr wrap="square" rtlCol="0">
            <a:spAutoFit/>
          </a:bodyPr>
          <a:lstStyle/>
          <a:p>
            <a:r>
              <a:rPr lang="en-IN" sz="2000" b="1" dirty="0"/>
              <a:t>5. Pest and weed control</a:t>
            </a:r>
          </a:p>
        </p:txBody>
      </p:sp>
      <p:sp>
        <p:nvSpPr>
          <p:cNvPr id="14" name="TextBox 13"/>
          <p:cNvSpPr txBox="1"/>
          <p:nvPr/>
        </p:nvSpPr>
        <p:spPr>
          <a:xfrm>
            <a:off x="96253" y="4271211"/>
            <a:ext cx="6301982" cy="1323439"/>
          </a:xfrm>
          <a:prstGeom prst="rect">
            <a:avLst/>
          </a:prstGeom>
          <a:noFill/>
        </p:spPr>
        <p:txBody>
          <a:bodyPr wrap="none" rtlCol="0">
            <a:spAutoFit/>
          </a:bodyPr>
          <a:lstStyle/>
          <a:p>
            <a:r>
              <a:rPr lang="en-IN" sz="2000" dirty="0"/>
              <a:t>Pest and weed control uses drones, sensors, and</a:t>
            </a:r>
          </a:p>
          <a:p>
            <a:r>
              <a:rPr lang="en-IN" sz="2000" dirty="0"/>
              <a:t> computer vision to detect pests or weeds in the</a:t>
            </a:r>
          </a:p>
          <a:p>
            <a:r>
              <a:rPr lang="en-IN" sz="2000" dirty="0"/>
              <a:t>Field and apply treatments only where needed,</a:t>
            </a:r>
          </a:p>
          <a:p>
            <a:r>
              <a:rPr lang="en-IN" sz="2000" dirty="0"/>
              <a:t>Reducing chemical usage and cost.</a:t>
            </a:r>
          </a:p>
        </p:txBody>
      </p:sp>
      <p:pic>
        <p:nvPicPr>
          <p:cNvPr id="16" name="Picture 15"/>
          <p:cNvPicPr>
            <a:picLocks noChangeAspect="1"/>
          </p:cNvPicPr>
          <p:nvPr/>
        </p:nvPicPr>
        <p:blipFill>
          <a:blip r:embed="rId4"/>
          <a:stretch>
            <a:fillRect/>
          </a:stretch>
        </p:blipFill>
        <p:spPr>
          <a:xfrm>
            <a:off x="6749143" y="4449483"/>
            <a:ext cx="5234309" cy="212189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AEFD3EE-A280-B09B-C2E1-6A735ED8D7F4}"/>
              </a:ext>
            </a:extLst>
          </p:cNvPr>
          <p:cNvSpPr txBox="1"/>
          <p:nvPr/>
        </p:nvSpPr>
        <p:spPr>
          <a:xfrm>
            <a:off x="431800" y="969645"/>
            <a:ext cx="10185400" cy="5469255"/>
          </a:xfrm>
          <a:prstGeom prst="rect">
            <a:avLst/>
          </a:prstGeom>
          <a:noFill/>
        </p:spPr>
        <p:txBody>
          <a:bodyPr wrap="square">
            <a:spAutoFit/>
          </a:bodyPr>
          <a:lstStyle/>
          <a:p>
            <a:r>
              <a:rPr lang="en-US" dirty="0"/>
              <a:t> </a:t>
            </a:r>
          </a:p>
          <a:p>
            <a:endParaRPr lang="en-US" dirty="0"/>
          </a:p>
          <a:p>
            <a:r>
              <a:rPr lang="en-US" dirty="0"/>
              <a:t>Data for this project was collected from open-source platforms that provide agricultural datasets suitable for AI model development.		</a:t>
            </a:r>
          </a:p>
          <a:p>
            <a:endParaRPr lang="en-US" dirty="0"/>
          </a:p>
          <a:p>
            <a:r>
              <a:rPr lang="en-US" dirty="0"/>
              <a:t>The primary dataset was obtained from Kaggle’s Crop Recommendation Dataset, containing key parameters such as Nitrogen (N), Phosphorus (P), Potassium (K) levels, temperature, humidity, pH, and rainfall.	</a:t>
            </a:r>
          </a:p>
          <a:p>
            <a:endParaRPr lang="en-US" dirty="0"/>
          </a:p>
          <a:p>
            <a:r>
              <a:rPr lang="en-US" dirty="0"/>
              <a:t>Additional reference datasets were collected from the UCI Machine Learning Repository and Data.gov.in, which offer verified government and research-based agricultural data.</a:t>
            </a:r>
          </a:p>
          <a:p>
            <a:r>
              <a:rPr lang="en-US" dirty="0"/>
              <a:t>	</a:t>
            </a:r>
          </a:p>
          <a:p>
            <a:r>
              <a:rPr lang="en-US" dirty="0"/>
              <a:t>These datasets were used for training and testing machine learning models to predict the most suitable crops based on soil and environmental conditions.		</a:t>
            </a:r>
          </a:p>
          <a:p>
            <a:r>
              <a:rPr lang="en-US" dirty="0"/>
              <a:t>Data was cleaned, preprocessed, and normalized before being fed into the AI model to ensure better accuracy and reliability.	</a:t>
            </a:r>
          </a:p>
          <a:p>
            <a:endParaRPr lang="en-US" dirty="0"/>
          </a:p>
          <a:p>
            <a:r>
              <a:rPr lang="en-US" dirty="0"/>
              <a:t>The datasets are publicly available, reliable, and widely used in academic and research projects related to smart farming and precision agriculture.</a:t>
            </a:r>
            <a:endParaRPr lang="en-IN" dirty="0"/>
          </a:p>
        </p:txBody>
      </p:sp>
      <p:sp>
        <p:nvSpPr>
          <p:cNvPr id="6" name="TextBox 5">
            <a:extLst>
              <a:ext uri="{FF2B5EF4-FFF2-40B4-BE49-F238E27FC236}">
                <a16:creationId xmlns:a16="http://schemas.microsoft.com/office/drawing/2014/main" id="{5108D985-0E44-D6ED-7B93-20A88F107C60}"/>
              </a:ext>
            </a:extLst>
          </p:cNvPr>
          <p:cNvSpPr txBox="1"/>
          <p:nvPr/>
        </p:nvSpPr>
        <p:spPr>
          <a:xfrm>
            <a:off x="736600" y="622301"/>
            <a:ext cx="4330700" cy="461665"/>
          </a:xfrm>
          <a:prstGeom prst="rect">
            <a:avLst/>
          </a:prstGeom>
          <a:noFill/>
        </p:spPr>
        <p:txBody>
          <a:bodyPr wrap="square" rtlCol="0">
            <a:spAutoFit/>
          </a:bodyPr>
          <a:lstStyle/>
          <a:p>
            <a:r>
              <a:rPr lang="en-IN" sz="2400" dirty="0"/>
              <a:t>Source</a:t>
            </a:r>
            <a:r>
              <a:rPr lang="en-IN" dirty="0"/>
              <a:t> </a:t>
            </a:r>
            <a:r>
              <a:rPr lang="en-IN" sz="2400" dirty="0"/>
              <a:t>of Data Collection</a:t>
            </a:r>
          </a:p>
        </p:txBody>
      </p:sp>
    </p:spTree>
    <p:extLst>
      <p:ext uri="{BB962C8B-B14F-4D97-AF65-F5344CB8AC3E}">
        <p14:creationId xmlns:p14="http://schemas.microsoft.com/office/powerpoint/2010/main" val="2989004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FB79C4-DBBE-349B-040F-D18A05BD2F42}"/>
              </a:ext>
            </a:extLst>
          </p:cNvPr>
          <p:cNvSpPr txBox="1"/>
          <p:nvPr/>
        </p:nvSpPr>
        <p:spPr>
          <a:xfrm>
            <a:off x="463550" y="1727200"/>
            <a:ext cx="10706100" cy="4801314"/>
          </a:xfrm>
          <a:prstGeom prst="rect">
            <a:avLst/>
          </a:prstGeom>
          <a:noFill/>
        </p:spPr>
        <p:txBody>
          <a:bodyPr wrap="square">
            <a:spAutoFit/>
          </a:bodyPr>
          <a:lstStyle/>
          <a:p>
            <a:r>
              <a:rPr lang="en-US" dirty="0"/>
              <a:t>In this project, </a:t>
            </a:r>
            <a:r>
              <a:rPr lang="en-US" dirty="0" err="1"/>
              <a:t>i</a:t>
            </a:r>
            <a:r>
              <a:rPr lang="en-US" dirty="0"/>
              <a:t> used different Artificial Intelligence models to analyze agricultural data and support better farming decisions</a:t>
            </a:r>
          </a:p>
          <a:p>
            <a:endParaRPr lang="en-US" dirty="0"/>
          </a:p>
          <a:p>
            <a:r>
              <a:rPr lang="en-US" dirty="0"/>
              <a:t>First, i applied the Decision Tree algorithm, which helps in deciding the best crop to grow based on inputs like soil type, temperature, and rainfall.</a:t>
            </a:r>
          </a:p>
          <a:p>
            <a:endParaRPr lang="en-US" dirty="0"/>
          </a:p>
          <a:p>
            <a:r>
              <a:rPr lang="en-US" dirty="0"/>
              <a:t>Then, </a:t>
            </a:r>
            <a:r>
              <a:rPr lang="en-US" dirty="0" err="1"/>
              <a:t>i</a:t>
            </a:r>
            <a:r>
              <a:rPr lang="en-US" dirty="0"/>
              <a:t> used the Random Forest model, which combines multiple decision trees to give more accurate crop yield predictions.</a:t>
            </a:r>
          </a:p>
          <a:p>
            <a:endParaRPr lang="en-US" dirty="0"/>
          </a:p>
          <a:p>
            <a:r>
              <a:rPr lang="en-US" dirty="0"/>
              <a:t>For detecting plant diseases, </a:t>
            </a:r>
            <a:r>
              <a:rPr lang="en-US" dirty="0" err="1"/>
              <a:t>i</a:t>
            </a:r>
            <a:r>
              <a:rPr lang="en-US" dirty="0"/>
              <a:t> used a Convolutional Neural Network (CNN) — this model can identify whether a plant is healthy or infected by analyzing leaf images.</a:t>
            </a:r>
          </a:p>
          <a:p>
            <a:endParaRPr lang="en-US" dirty="0"/>
          </a:p>
          <a:p>
            <a:r>
              <a:rPr lang="en-US" dirty="0"/>
              <a:t> also used K-Means Clustering to group soils with similar properties, which helps in understanding soil fertility Finally, used Linear Regression to predict environmental factors such as rainfall and temperature that affect crop growth.</a:t>
            </a:r>
          </a:p>
          <a:p>
            <a:endParaRPr lang="en-US" dirty="0"/>
          </a:p>
          <a:p>
            <a:r>
              <a:rPr lang="en-US" dirty="0"/>
              <a:t>These AI models together make agriculture smarter, more efficient, and data-driven.</a:t>
            </a:r>
            <a:endParaRPr lang="en-IN" dirty="0"/>
          </a:p>
        </p:txBody>
      </p:sp>
      <p:sp>
        <p:nvSpPr>
          <p:cNvPr id="4" name="TextBox 3">
            <a:extLst>
              <a:ext uri="{FF2B5EF4-FFF2-40B4-BE49-F238E27FC236}">
                <a16:creationId xmlns:a16="http://schemas.microsoft.com/office/drawing/2014/main" id="{67052F34-46CF-EE0C-70FE-68F236558C5D}"/>
              </a:ext>
            </a:extLst>
          </p:cNvPr>
          <p:cNvSpPr txBox="1"/>
          <p:nvPr/>
        </p:nvSpPr>
        <p:spPr>
          <a:xfrm>
            <a:off x="609600" y="800100"/>
            <a:ext cx="5080000" cy="461665"/>
          </a:xfrm>
          <a:prstGeom prst="rect">
            <a:avLst/>
          </a:prstGeom>
          <a:noFill/>
        </p:spPr>
        <p:txBody>
          <a:bodyPr wrap="square" rtlCol="0">
            <a:spAutoFit/>
          </a:bodyPr>
          <a:lstStyle/>
          <a:p>
            <a:r>
              <a:rPr lang="en-IN" sz="2400" dirty="0"/>
              <a:t>Models</a:t>
            </a:r>
            <a:r>
              <a:rPr lang="en-IN" dirty="0"/>
              <a:t> </a:t>
            </a:r>
            <a:r>
              <a:rPr lang="en-IN" sz="2400" dirty="0"/>
              <a:t>and</a:t>
            </a:r>
            <a:r>
              <a:rPr lang="en-IN" dirty="0"/>
              <a:t> </a:t>
            </a:r>
            <a:r>
              <a:rPr lang="en-IN" sz="2400" dirty="0"/>
              <a:t>Algorithms</a:t>
            </a:r>
            <a:r>
              <a:rPr lang="en-IN" dirty="0"/>
              <a:t> </a:t>
            </a:r>
            <a:r>
              <a:rPr lang="en-IN" sz="2400" dirty="0"/>
              <a:t>Used</a:t>
            </a:r>
          </a:p>
        </p:txBody>
      </p:sp>
    </p:spTree>
    <p:extLst>
      <p:ext uri="{BB962C8B-B14F-4D97-AF65-F5344CB8AC3E}">
        <p14:creationId xmlns:p14="http://schemas.microsoft.com/office/powerpoint/2010/main" val="3432124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70BABB-43E4-8120-BA6B-3CF2E83FC91B}"/>
              </a:ext>
            </a:extLst>
          </p:cNvPr>
          <p:cNvPicPr>
            <a:picLocks noChangeAspect="1"/>
          </p:cNvPicPr>
          <p:nvPr/>
        </p:nvPicPr>
        <p:blipFill>
          <a:blip r:embed="rId2"/>
          <a:stretch>
            <a:fillRect/>
          </a:stretch>
        </p:blipFill>
        <p:spPr>
          <a:xfrm>
            <a:off x="1246841" y="510005"/>
            <a:ext cx="9698318" cy="6077791"/>
          </a:xfrm>
          <a:prstGeom prst="rect">
            <a:avLst/>
          </a:prstGeom>
        </p:spPr>
      </p:pic>
    </p:spTree>
    <p:extLst>
      <p:ext uri="{BB962C8B-B14F-4D97-AF65-F5344CB8AC3E}">
        <p14:creationId xmlns:p14="http://schemas.microsoft.com/office/powerpoint/2010/main" val="11481520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56557" y="274631"/>
            <a:ext cx="5039443" cy="461665"/>
          </a:xfrm>
          <a:prstGeom prst="rect">
            <a:avLst/>
          </a:prstGeom>
          <a:noFill/>
        </p:spPr>
        <p:txBody>
          <a:bodyPr wrap="square" rtlCol="0">
            <a:spAutoFit/>
          </a:bodyPr>
          <a:lstStyle/>
          <a:p>
            <a:r>
              <a:rPr lang="en-IN" sz="2400" b="1" dirty="0"/>
              <a:t>Benefits of AI in Agriculture</a:t>
            </a:r>
            <a:r>
              <a:rPr lang="en-IN" dirty="0"/>
              <a:t> </a:t>
            </a:r>
          </a:p>
        </p:txBody>
      </p:sp>
      <p:pic>
        <p:nvPicPr>
          <p:cNvPr id="4" name="Picture 3"/>
          <p:cNvPicPr>
            <a:picLocks noChangeAspect="1"/>
          </p:cNvPicPr>
          <p:nvPr/>
        </p:nvPicPr>
        <p:blipFill>
          <a:blip r:embed="rId2"/>
          <a:stretch>
            <a:fillRect/>
          </a:stretch>
        </p:blipFill>
        <p:spPr>
          <a:xfrm>
            <a:off x="6557211" y="0"/>
            <a:ext cx="5789508" cy="6858000"/>
          </a:xfrm>
          <a:prstGeom prst="rect">
            <a:avLst/>
          </a:prstGeom>
        </p:spPr>
      </p:pic>
      <p:sp>
        <p:nvSpPr>
          <p:cNvPr id="5" name="TextBox 4"/>
          <p:cNvSpPr txBox="1"/>
          <p:nvPr/>
        </p:nvSpPr>
        <p:spPr>
          <a:xfrm>
            <a:off x="360947" y="1600200"/>
            <a:ext cx="184731" cy="369332"/>
          </a:xfrm>
          <a:prstGeom prst="rect">
            <a:avLst/>
          </a:prstGeom>
          <a:noFill/>
        </p:spPr>
        <p:txBody>
          <a:bodyPr wrap="none" rtlCol="0">
            <a:spAutoFit/>
          </a:bodyPr>
          <a:lstStyle/>
          <a:p>
            <a:endParaRPr lang="en-IN" dirty="0"/>
          </a:p>
        </p:txBody>
      </p:sp>
      <p:sp>
        <p:nvSpPr>
          <p:cNvPr id="7" name="TextBox 6"/>
          <p:cNvSpPr txBox="1"/>
          <p:nvPr/>
        </p:nvSpPr>
        <p:spPr>
          <a:xfrm>
            <a:off x="109977" y="1010653"/>
            <a:ext cx="5789508" cy="5293757"/>
          </a:xfrm>
          <a:prstGeom prst="rect">
            <a:avLst/>
          </a:prstGeom>
          <a:noFill/>
        </p:spPr>
        <p:txBody>
          <a:bodyPr wrap="square">
            <a:spAutoFit/>
          </a:bodyPr>
          <a:lstStyle/>
          <a:p>
            <a:r>
              <a:rPr lang="en-IN" dirty="0"/>
              <a:t> </a:t>
            </a:r>
            <a:r>
              <a:rPr lang="en-IN" sz="2000" b="1" dirty="0"/>
              <a:t>1. Higher crop yields</a:t>
            </a:r>
            <a:r>
              <a:rPr lang="en-IN" dirty="0"/>
              <a:t> </a:t>
            </a:r>
          </a:p>
          <a:p>
            <a:r>
              <a:rPr lang="en-IN" dirty="0"/>
              <a:t>AI-driven insights help farmers choose the right seeds, planting methods, and fertilizers.</a:t>
            </a:r>
          </a:p>
          <a:p>
            <a:r>
              <a:rPr lang="en-IN" dirty="0"/>
              <a:t> </a:t>
            </a:r>
            <a:r>
              <a:rPr lang="en-IN" sz="2000" b="1" dirty="0"/>
              <a:t>2. Efficient resource management</a:t>
            </a:r>
          </a:p>
          <a:p>
            <a:r>
              <a:rPr lang="en-IN" sz="2000" b="1" dirty="0"/>
              <a:t> </a:t>
            </a:r>
            <a:r>
              <a:rPr lang="en-IN" dirty="0"/>
              <a:t> Smart irrigation &amp; precision farming reduce water, fertilizer, and pesticide wastage.</a:t>
            </a:r>
          </a:p>
          <a:p>
            <a:r>
              <a:rPr lang="en-IN" dirty="0"/>
              <a:t> </a:t>
            </a:r>
            <a:r>
              <a:rPr lang="en-IN" sz="2000" b="1" dirty="0"/>
              <a:t>3. Early pest &amp; Disease detection</a:t>
            </a:r>
          </a:p>
          <a:p>
            <a:r>
              <a:rPr lang="en-IN" dirty="0"/>
              <a:t> AI-powered sensors and computer vision detect crop stress quickly, preventing major losses.</a:t>
            </a:r>
          </a:p>
          <a:p>
            <a:r>
              <a:rPr lang="en-IN" dirty="0"/>
              <a:t> </a:t>
            </a:r>
            <a:r>
              <a:rPr lang="en-IN" sz="2000" b="1" dirty="0"/>
              <a:t>4. Data driven decisions</a:t>
            </a:r>
          </a:p>
          <a:p>
            <a:r>
              <a:rPr lang="en-IN" dirty="0"/>
              <a:t> Farmers get accurate forecasts on weather, soil health, and market demand.</a:t>
            </a:r>
          </a:p>
          <a:p>
            <a:r>
              <a:rPr lang="en-IN" dirty="0"/>
              <a:t> </a:t>
            </a:r>
            <a:r>
              <a:rPr lang="en-IN" sz="2000" b="1" dirty="0"/>
              <a:t>5. Time &amp; </a:t>
            </a:r>
            <a:r>
              <a:rPr lang="en-IN" sz="2000" b="1" dirty="0" err="1"/>
              <a:t>labor</a:t>
            </a:r>
            <a:r>
              <a:rPr lang="en-IN" sz="2000" b="1" dirty="0"/>
              <a:t> savings</a:t>
            </a:r>
          </a:p>
          <a:p>
            <a:r>
              <a:rPr lang="en-IN" dirty="0"/>
              <a:t> Automation (drones, robots, AI tractors) reduces manual effort.</a:t>
            </a:r>
          </a:p>
          <a:p>
            <a:r>
              <a:rPr lang="en-IN" dirty="0"/>
              <a:t> </a:t>
            </a:r>
            <a:r>
              <a:rPr lang="en-IN" sz="2000" b="1" dirty="0"/>
              <a:t>6. Sustainable farming</a:t>
            </a:r>
          </a:p>
          <a:p>
            <a:r>
              <a:rPr lang="en-IN" dirty="0"/>
              <a:t>Optimized farming methods reduce environmental impact and improve food security.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68443" y="1058779"/>
            <a:ext cx="6701590" cy="5135677"/>
          </a:xfrm>
          <a:prstGeom prst="rect">
            <a:avLst/>
          </a:prstGeom>
          <a:noFill/>
        </p:spPr>
        <p:txBody>
          <a:bodyPr wrap="square">
            <a:spAutoFit/>
          </a:bodyPr>
          <a:lstStyle/>
          <a:p>
            <a:r>
              <a:rPr lang="en-IN" sz="2000" b="1" dirty="0"/>
              <a:t>. </a:t>
            </a:r>
            <a:r>
              <a:rPr lang="en-IN" dirty="0"/>
              <a:t>John Deere’s AI Tractors</a:t>
            </a:r>
          </a:p>
          <a:p>
            <a:r>
              <a:rPr lang="en-IN" dirty="0"/>
              <a:t>Self-driving tractors with AI for precision planting &amp; harvesting.</a:t>
            </a:r>
          </a:p>
          <a:p>
            <a:r>
              <a:rPr lang="en-IN" sz="2000" b="1" dirty="0"/>
              <a:t>. </a:t>
            </a:r>
            <a:r>
              <a:rPr lang="en-IN" dirty="0"/>
              <a:t>Microsoft AI Sowing App </a:t>
            </a:r>
          </a:p>
          <a:p>
            <a:r>
              <a:rPr lang="en-IN" sz="2400" b="1" dirty="0"/>
              <a:t>. </a:t>
            </a:r>
            <a:r>
              <a:rPr lang="en-IN" dirty="0"/>
              <a:t>uses weather &amp; soil data to guide farmers on the best time to sow seeds.</a:t>
            </a:r>
          </a:p>
          <a:p>
            <a:r>
              <a:rPr lang="en-IN" sz="2400" b="1" dirty="0"/>
              <a:t>.</a:t>
            </a:r>
            <a:r>
              <a:rPr lang="en-IN" dirty="0"/>
              <a:t> Blue River Technology (Acquired by John Deere)</a:t>
            </a:r>
          </a:p>
          <a:p>
            <a:r>
              <a:rPr lang="en-IN" sz="2400" b="1" dirty="0"/>
              <a:t>.</a:t>
            </a:r>
            <a:r>
              <a:rPr lang="en-IN" dirty="0"/>
              <a:t>See &amp; Spray” system that detects weeds and sprays only where needed.</a:t>
            </a:r>
          </a:p>
          <a:p>
            <a:r>
              <a:rPr lang="en-IN" sz="2400" b="1" dirty="0"/>
              <a:t>.</a:t>
            </a:r>
            <a:r>
              <a:rPr lang="en-IN" dirty="0"/>
              <a:t> </a:t>
            </a:r>
            <a:r>
              <a:rPr lang="en-IN" dirty="0" err="1"/>
              <a:t>CropIn</a:t>
            </a:r>
            <a:r>
              <a:rPr lang="en-IN" dirty="0"/>
              <a:t> Technologies</a:t>
            </a:r>
          </a:p>
          <a:p>
            <a:r>
              <a:rPr lang="en-IN" sz="2400" b="1" dirty="0"/>
              <a:t>.</a:t>
            </a:r>
            <a:r>
              <a:rPr lang="en-IN" dirty="0"/>
              <a:t> AI-based farm management platform providing yield prediction &amp; crop monitoring.</a:t>
            </a:r>
          </a:p>
          <a:p>
            <a:r>
              <a:rPr lang="en-IN" sz="2400" b="1" dirty="0"/>
              <a:t>.</a:t>
            </a:r>
            <a:r>
              <a:rPr lang="en-IN" dirty="0"/>
              <a:t> Drone Technology (DJI, </a:t>
            </a:r>
            <a:r>
              <a:rPr lang="en-IN" dirty="0" err="1"/>
              <a:t>PrecisionHawk</a:t>
            </a:r>
            <a:r>
              <a:rPr lang="en-IN" dirty="0"/>
              <a:t>, etc.)</a:t>
            </a:r>
          </a:p>
          <a:p>
            <a:r>
              <a:rPr lang="en-IN" sz="2400" b="1" dirty="0"/>
              <a:t>. </a:t>
            </a:r>
            <a:r>
              <a:rPr lang="en-IN" dirty="0"/>
              <a:t>AI-powered drones for aerial crop health monitoring &amp; irrigation planning..</a:t>
            </a:r>
          </a:p>
        </p:txBody>
      </p:sp>
      <p:sp>
        <p:nvSpPr>
          <p:cNvPr id="4" name="TextBox 3"/>
          <p:cNvSpPr txBox="1"/>
          <p:nvPr/>
        </p:nvSpPr>
        <p:spPr>
          <a:xfrm>
            <a:off x="782052" y="395235"/>
            <a:ext cx="5670078" cy="400110"/>
          </a:xfrm>
          <a:prstGeom prst="rect">
            <a:avLst/>
          </a:prstGeom>
          <a:noFill/>
        </p:spPr>
        <p:txBody>
          <a:bodyPr wrap="none" rtlCol="0">
            <a:spAutoFit/>
          </a:bodyPr>
          <a:lstStyle/>
          <a:p>
            <a:r>
              <a:rPr lang="en-IN" sz="2000" b="1" dirty="0"/>
              <a:t>Real world examples of AI in agriculture</a:t>
            </a:r>
          </a:p>
        </p:txBody>
      </p:sp>
      <p:pic>
        <p:nvPicPr>
          <p:cNvPr id="7" name="Picture 6"/>
          <p:cNvPicPr>
            <a:picLocks noChangeAspect="1"/>
          </p:cNvPicPr>
          <p:nvPr/>
        </p:nvPicPr>
        <p:blipFill>
          <a:blip r:embed="rId2"/>
          <a:stretch>
            <a:fillRect/>
          </a:stretch>
        </p:blipFill>
        <p:spPr>
          <a:xfrm>
            <a:off x="6783487" y="0"/>
            <a:ext cx="5408513"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311936"/>
            <a:ext cx="6493041" cy="5053264"/>
          </a:xfrm>
          <a:prstGeom prst="rect">
            <a:avLst/>
          </a:prstGeom>
          <a:noFill/>
        </p:spPr>
        <p:txBody>
          <a:bodyPr wrap="square">
            <a:spAutoFit/>
          </a:bodyPr>
          <a:lstStyle/>
          <a:p>
            <a:r>
              <a:rPr lang="en-US" dirty="0"/>
              <a:t>Autonomous Farms – Fully automated tractors</a:t>
            </a:r>
          </a:p>
          <a:p>
            <a:endParaRPr lang="en-US" dirty="0"/>
          </a:p>
          <a:p>
            <a:r>
              <a:rPr lang="en-US" dirty="0"/>
              <a:t> drones, and robots managing fields.</a:t>
            </a:r>
          </a:p>
          <a:p>
            <a:endParaRPr lang="en-US" dirty="0"/>
          </a:p>
          <a:p>
            <a:r>
              <a:rPr lang="en-US" dirty="0"/>
              <a:t> Advanced Precision Farming – Ultra-precise use of water, fertilizers, and pesticides.</a:t>
            </a:r>
          </a:p>
          <a:p>
            <a:endParaRPr lang="en-US" dirty="0"/>
          </a:p>
          <a:p>
            <a:r>
              <a:rPr lang="en-US" dirty="0"/>
              <a:t> Climate-Smart Agriculture – AI predicting and adapting to climate changes for sustainable farming.</a:t>
            </a:r>
          </a:p>
          <a:p>
            <a:endParaRPr lang="en-US" dirty="0"/>
          </a:p>
          <a:p>
            <a:r>
              <a:rPr lang="en-US" dirty="0"/>
              <a:t> AI + IoT + Satellite Data – Integrated systems for real-time monitoring and decision-making.</a:t>
            </a:r>
          </a:p>
          <a:p>
            <a:endParaRPr lang="en-US" dirty="0"/>
          </a:p>
          <a:p>
            <a:r>
              <a:rPr lang="en-US" dirty="0"/>
              <a:t> Global Food Security – AI ensuring higher productivity to meet growing food demand.</a:t>
            </a:r>
          </a:p>
          <a:p>
            <a:endParaRPr lang="en-US" dirty="0"/>
          </a:p>
          <a:p>
            <a:r>
              <a:rPr lang="en-US" dirty="0"/>
              <a:t> Farm-to-Market Optimization – AI helping farmers connect directly with markets for better prices.</a:t>
            </a:r>
            <a:endParaRPr lang="en-IN" dirty="0"/>
          </a:p>
        </p:txBody>
      </p:sp>
      <p:sp>
        <p:nvSpPr>
          <p:cNvPr id="4" name="TextBox 3"/>
          <p:cNvSpPr txBox="1"/>
          <p:nvPr/>
        </p:nvSpPr>
        <p:spPr>
          <a:xfrm>
            <a:off x="481264" y="492800"/>
            <a:ext cx="8085220" cy="461665"/>
          </a:xfrm>
          <a:prstGeom prst="rect">
            <a:avLst/>
          </a:prstGeom>
          <a:noFill/>
        </p:spPr>
        <p:txBody>
          <a:bodyPr wrap="square" rtlCol="0">
            <a:spAutoFit/>
          </a:bodyPr>
          <a:lstStyle/>
          <a:p>
            <a:r>
              <a:rPr lang="en-IN" sz="2400" b="1" dirty="0"/>
              <a:t>Future</a:t>
            </a:r>
            <a:r>
              <a:rPr lang="en-IN" sz="2000" b="1" dirty="0"/>
              <a:t> </a:t>
            </a:r>
            <a:r>
              <a:rPr lang="en-IN" sz="2400" b="1" dirty="0"/>
              <a:t>of</a:t>
            </a:r>
            <a:r>
              <a:rPr lang="en-IN" sz="2000" b="1" dirty="0"/>
              <a:t> </a:t>
            </a:r>
            <a:r>
              <a:rPr lang="en-IN" sz="2400" b="1" dirty="0"/>
              <a:t>AI</a:t>
            </a:r>
            <a:r>
              <a:rPr lang="en-IN" sz="2000" b="1" dirty="0"/>
              <a:t> </a:t>
            </a:r>
            <a:r>
              <a:rPr lang="en-IN" sz="2400" b="1" dirty="0"/>
              <a:t>in</a:t>
            </a:r>
            <a:r>
              <a:rPr lang="en-IN" sz="2000" b="1" dirty="0"/>
              <a:t> </a:t>
            </a:r>
            <a:r>
              <a:rPr lang="en-IN" sz="2400" b="1" dirty="0"/>
              <a:t>Agriculture</a:t>
            </a:r>
          </a:p>
        </p:txBody>
      </p:sp>
      <p:pic>
        <p:nvPicPr>
          <p:cNvPr id="10" name="Picture 9"/>
          <p:cNvPicPr>
            <a:picLocks noChangeAspect="1"/>
          </p:cNvPicPr>
          <p:nvPr/>
        </p:nvPicPr>
        <p:blipFill>
          <a:blip r:embed="rId2"/>
          <a:stretch>
            <a:fillRect/>
          </a:stretch>
        </p:blipFill>
        <p:spPr>
          <a:xfrm>
            <a:off x="6729169" y="0"/>
            <a:ext cx="5462831"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5444DC-FE1C-1345-DA9D-27F6E60C1318}"/>
              </a:ext>
            </a:extLst>
          </p:cNvPr>
          <p:cNvSpPr txBox="1"/>
          <p:nvPr/>
        </p:nvSpPr>
        <p:spPr>
          <a:xfrm>
            <a:off x="336884" y="894801"/>
            <a:ext cx="7784431" cy="6228628"/>
          </a:xfrm>
          <a:prstGeom prst="rect">
            <a:avLst/>
          </a:prstGeom>
          <a:noFill/>
        </p:spPr>
        <p:txBody>
          <a:bodyPr wrap="square">
            <a:spAutoFit/>
          </a:bodyPr>
          <a:lstStyle/>
          <a:p>
            <a:pPr>
              <a:lnSpc>
                <a:spcPts val="1425"/>
              </a:lnSpc>
              <a:buNone/>
            </a:pPr>
            <a:r>
              <a:rPr lang="en-IN" sz="2000" b="0" dirty="0">
                <a:effectLst/>
                <a:latin typeface="Courier New" panose="02070309020205020404" pitchFamily="49" charset="0"/>
                <a:cs typeface="Courier New" panose="02070309020205020404" pitchFamily="49" charset="0"/>
              </a:rPr>
              <a:t>import pandas as pd</a:t>
            </a:r>
          </a:p>
          <a:p>
            <a:pPr>
              <a:lnSpc>
                <a:spcPts val="1425"/>
              </a:lnSpc>
              <a:buNone/>
            </a:pPr>
            <a:r>
              <a:rPr lang="en-IN" sz="2000" b="0" dirty="0">
                <a:effectLst/>
                <a:latin typeface="Courier New" panose="02070309020205020404" pitchFamily="49" charset="0"/>
                <a:cs typeface="Courier New" panose="02070309020205020404" pitchFamily="49" charset="0"/>
              </a:rPr>
              <a:t>from </a:t>
            </a:r>
            <a:r>
              <a:rPr lang="en-IN" sz="2000" b="0" dirty="0" err="1">
                <a:effectLst/>
                <a:latin typeface="Courier New" panose="02070309020205020404" pitchFamily="49" charset="0"/>
                <a:cs typeface="Courier New" panose="02070309020205020404" pitchFamily="49" charset="0"/>
              </a:rPr>
              <a:t>sklearn.model_selection</a:t>
            </a:r>
            <a:r>
              <a:rPr lang="en-IN" sz="2000" b="0" dirty="0">
                <a:effectLst/>
                <a:latin typeface="Courier New" panose="02070309020205020404" pitchFamily="49" charset="0"/>
                <a:cs typeface="Courier New" panose="02070309020205020404" pitchFamily="49" charset="0"/>
              </a:rPr>
              <a:t> import </a:t>
            </a:r>
            <a:r>
              <a:rPr lang="en-IN" sz="2000" b="0" dirty="0" err="1">
                <a:effectLst/>
                <a:latin typeface="Courier New" panose="02070309020205020404" pitchFamily="49" charset="0"/>
                <a:cs typeface="Courier New" panose="02070309020205020404" pitchFamily="49" charset="0"/>
              </a:rPr>
              <a:t>train_test_split</a:t>
            </a:r>
            <a:endParaRPr lang="en-IN" sz="2000" b="0" dirty="0">
              <a:effectLst/>
              <a:latin typeface="Courier New" panose="02070309020205020404" pitchFamily="49" charset="0"/>
              <a:cs typeface="Courier New" panose="02070309020205020404" pitchFamily="49" charset="0"/>
            </a:endParaRPr>
          </a:p>
          <a:p>
            <a:pPr>
              <a:lnSpc>
                <a:spcPts val="1425"/>
              </a:lnSpc>
              <a:buNone/>
            </a:pPr>
            <a:r>
              <a:rPr lang="en-IN" sz="2000" b="0" dirty="0">
                <a:effectLst/>
                <a:latin typeface="Courier New" panose="02070309020205020404" pitchFamily="49" charset="0"/>
                <a:cs typeface="Courier New" panose="02070309020205020404" pitchFamily="49" charset="0"/>
              </a:rPr>
              <a:t>from </a:t>
            </a:r>
            <a:r>
              <a:rPr lang="en-IN" sz="2000" b="0" dirty="0" err="1">
                <a:effectLst/>
                <a:latin typeface="Courier New" panose="02070309020205020404" pitchFamily="49" charset="0"/>
                <a:cs typeface="Courier New" panose="02070309020205020404" pitchFamily="49" charset="0"/>
              </a:rPr>
              <a:t>sklearn.tree</a:t>
            </a:r>
            <a:r>
              <a:rPr lang="en-IN" sz="2000" b="0" dirty="0">
                <a:effectLst/>
                <a:latin typeface="Courier New" panose="02070309020205020404" pitchFamily="49" charset="0"/>
                <a:cs typeface="Courier New" panose="02070309020205020404" pitchFamily="49" charset="0"/>
              </a:rPr>
              <a:t> import </a:t>
            </a:r>
            <a:r>
              <a:rPr lang="en-IN" sz="2000" b="0" dirty="0" err="1">
                <a:effectLst/>
                <a:latin typeface="Courier New" panose="02070309020205020404" pitchFamily="49" charset="0"/>
                <a:cs typeface="Courier New" panose="02070309020205020404" pitchFamily="49" charset="0"/>
              </a:rPr>
              <a:t>DecisionTreeClassifier</a:t>
            </a:r>
            <a:endParaRPr lang="en-IN" sz="2000" b="0" dirty="0">
              <a:effectLst/>
              <a:latin typeface="Courier New" panose="02070309020205020404" pitchFamily="49" charset="0"/>
              <a:cs typeface="Courier New" panose="02070309020205020404" pitchFamily="49" charset="0"/>
            </a:endParaRPr>
          </a:p>
          <a:p>
            <a:pPr>
              <a:lnSpc>
                <a:spcPts val="1425"/>
              </a:lnSpc>
              <a:buNone/>
            </a:pPr>
            <a:r>
              <a:rPr lang="en-IN" sz="2000" b="0" dirty="0">
                <a:effectLst/>
                <a:latin typeface="Courier New" panose="02070309020205020404" pitchFamily="49" charset="0"/>
                <a:cs typeface="Courier New" panose="02070309020205020404" pitchFamily="49" charset="0"/>
              </a:rPr>
              <a:t>from </a:t>
            </a:r>
            <a:r>
              <a:rPr lang="en-IN" sz="2000" b="0" dirty="0" err="1">
                <a:effectLst/>
                <a:latin typeface="Courier New" panose="02070309020205020404" pitchFamily="49" charset="0"/>
                <a:cs typeface="Courier New" panose="02070309020205020404" pitchFamily="49" charset="0"/>
              </a:rPr>
              <a:t>sklearn.metrics</a:t>
            </a:r>
            <a:r>
              <a:rPr lang="en-IN" sz="2000" b="0" dirty="0">
                <a:effectLst/>
                <a:latin typeface="Courier New" panose="02070309020205020404" pitchFamily="49" charset="0"/>
                <a:cs typeface="Courier New" panose="02070309020205020404" pitchFamily="49" charset="0"/>
              </a:rPr>
              <a:t> import </a:t>
            </a:r>
            <a:r>
              <a:rPr lang="en-IN" sz="2000" b="0" dirty="0" err="1">
                <a:effectLst/>
                <a:latin typeface="Courier New" panose="02070309020205020404" pitchFamily="49" charset="0"/>
                <a:cs typeface="Courier New" panose="02070309020205020404" pitchFamily="49" charset="0"/>
              </a:rPr>
              <a:t>accuracy_score</a:t>
            </a:r>
            <a:endParaRPr lang="en-IN" sz="2000" b="0" dirty="0">
              <a:effectLst/>
              <a:latin typeface="Courier New" panose="02070309020205020404" pitchFamily="49" charset="0"/>
              <a:cs typeface="Courier New" panose="02070309020205020404" pitchFamily="49" charset="0"/>
            </a:endParaRPr>
          </a:p>
          <a:p>
            <a:pPr>
              <a:lnSpc>
                <a:spcPts val="1425"/>
              </a:lnSpc>
              <a:buNone/>
            </a:pPr>
            <a:br>
              <a:rPr lang="en-IN" sz="2000" b="0" dirty="0">
                <a:effectLst/>
                <a:latin typeface="Courier New" panose="02070309020205020404" pitchFamily="49" charset="0"/>
                <a:cs typeface="Courier New" panose="02070309020205020404" pitchFamily="49" charset="0"/>
              </a:rPr>
            </a:br>
            <a:endParaRPr lang="en-IN" sz="2000" b="0" dirty="0">
              <a:effectLst/>
              <a:latin typeface="Courier New" panose="02070309020205020404" pitchFamily="49" charset="0"/>
              <a:cs typeface="Courier New" panose="02070309020205020404" pitchFamily="49" charset="0"/>
            </a:endParaRPr>
          </a:p>
          <a:p>
            <a:pPr>
              <a:lnSpc>
                <a:spcPts val="1425"/>
              </a:lnSpc>
              <a:buNone/>
            </a:pPr>
            <a:r>
              <a:rPr lang="en-IN" sz="2000" b="0" dirty="0">
                <a:effectLst/>
                <a:latin typeface="Courier New" panose="02070309020205020404" pitchFamily="49" charset="0"/>
                <a:cs typeface="Courier New" panose="02070309020205020404" pitchFamily="49" charset="0"/>
              </a:rPr>
              <a:t># --- 1. Create a dummy dataset (In a real project, you'd load a CSV file) ---</a:t>
            </a:r>
          </a:p>
          <a:p>
            <a:pPr>
              <a:lnSpc>
                <a:spcPts val="1425"/>
              </a:lnSpc>
              <a:buNone/>
            </a:pPr>
            <a:r>
              <a:rPr lang="en-IN" sz="2000" b="0" dirty="0">
                <a:effectLst/>
                <a:latin typeface="Courier New" panose="02070309020205020404" pitchFamily="49" charset="0"/>
                <a:cs typeface="Courier New" panose="02070309020205020404" pitchFamily="49" charset="0"/>
              </a:rPr>
              <a:t>data = {</a:t>
            </a:r>
          </a:p>
          <a:p>
            <a:pPr>
              <a:lnSpc>
                <a:spcPts val="1425"/>
              </a:lnSpc>
              <a:buNone/>
            </a:pPr>
            <a:r>
              <a:rPr lang="en-IN" sz="2000" b="0" dirty="0">
                <a:effectLst/>
                <a:latin typeface="Courier New" panose="02070309020205020404" pitchFamily="49" charset="0"/>
                <a:cs typeface="Courier New" panose="02070309020205020404" pitchFamily="49" charset="0"/>
              </a:rPr>
              <a:t>    'N': [90, 85, 60, 45, 10, 30, 70],</a:t>
            </a:r>
          </a:p>
          <a:p>
            <a:pPr>
              <a:lnSpc>
                <a:spcPts val="1425"/>
              </a:lnSpc>
              <a:buNone/>
            </a:pPr>
            <a:r>
              <a:rPr lang="en-IN" sz="2000" b="0" dirty="0">
                <a:effectLst/>
                <a:latin typeface="Courier New" panose="02070309020205020404" pitchFamily="49" charset="0"/>
                <a:cs typeface="Courier New" panose="02070309020205020404" pitchFamily="49" charset="0"/>
              </a:rPr>
              <a:t>    'P': [42, 58, 55, 60, 70, 65, 35],</a:t>
            </a:r>
          </a:p>
          <a:p>
            <a:pPr>
              <a:lnSpc>
                <a:spcPts val="1425"/>
              </a:lnSpc>
              <a:buNone/>
            </a:pPr>
            <a:r>
              <a:rPr lang="en-IN" sz="2000" b="0" dirty="0">
                <a:effectLst/>
                <a:latin typeface="Courier New" panose="02070309020205020404" pitchFamily="49" charset="0"/>
                <a:cs typeface="Courier New" panose="02070309020205020404" pitchFamily="49" charset="0"/>
              </a:rPr>
              <a:t>    'K': [43, 41, 40, 42, 10, 30, 30],</a:t>
            </a:r>
          </a:p>
          <a:p>
            <a:pPr>
              <a:lnSpc>
                <a:spcPts val="1425"/>
              </a:lnSpc>
              <a:buNone/>
            </a:pPr>
            <a:r>
              <a:rPr lang="en-IN" sz="2000" b="0" dirty="0">
                <a:effectLst/>
                <a:latin typeface="Courier New" panose="02070309020205020404" pitchFamily="49" charset="0"/>
                <a:cs typeface="Courier New" panose="02070309020205020404" pitchFamily="49" charset="0"/>
              </a:rPr>
              <a:t>    'temp': [20.8, 21.7, 23.0, 26.5, 27.0, 28.1, 22.0],</a:t>
            </a:r>
          </a:p>
          <a:p>
            <a:pPr>
              <a:lnSpc>
                <a:spcPts val="1425"/>
              </a:lnSpc>
              <a:buNone/>
            </a:pPr>
            <a:r>
              <a:rPr lang="en-IN" sz="2000" b="0" dirty="0">
                <a:effectLst/>
                <a:latin typeface="Courier New" panose="02070309020205020404" pitchFamily="49" charset="0"/>
                <a:cs typeface="Courier New" panose="02070309020205020404" pitchFamily="49" charset="0"/>
              </a:rPr>
              <a:t>    'crop': ['rice', 'rice', 'maize', 'maize', 'jute', 'cotton', 'rice']</a:t>
            </a:r>
          </a:p>
          <a:p>
            <a:pPr>
              <a:lnSpc>
                <a:spcPts val="1425"/>
              </a:lnSpc>
              <a:buNone/>
            </a:pPr>
            <a:r>
              <a:rPr lang="en-IN" sz="2000" b="0" dirty="0">
                <a:effectLst/>
                <a:latin typeface="Courier New" panose="02070309020205020404" pitchFamily="49" charset="0"/>
                <a:cs typeface="Courier New" panose="02070309020205020404" pitchFamily="49" charset="0"/>
              </a:rPr>
              <a:t>}</a:t>
            </a:r>
          </a:p>
          <a:p>
            <a:pPr>
              <a:lnSpc>
                <a:spcPts val="1425"/>
              </a:lnSpc>
              <a:buNone/>
            </a:pPr>
            <a:r>
              <a:rPr lang="en-IN" sz="2000" b="0" dirty="0" err="1">
                <a:effectLst/>
                <a:latin typeface="Courier New" panose="02070309020205020404" pitchFamily="49" charset="0"/>
                <a:cs typeface="Courier New" panose="02070309020205020404" pitchFamily="49" charset="0"/>
              </a:rPr>
              <a:t>df</a:t>
            </a:r>
            <a:r>
              <a:rPr lang="en-IN" sz="2000" b="0" dirty="0">
                <a:effectLst/>
                <a:latin typeface="Courier New" panose="02070309020205020404" pitchFamily="49" charset="0"/>
                <a:cs typeface="Courier New" panose="02070309020205020404" pitchFamily="49" charset="0"/>
              </a:rPr>
              <a:t> = </a:t>
            </a:r>
            <a:r>
              <a:rPr lang="en-IN" sz="2000" b="0" dirty="0" err="1">
                <a:effectLst/>
                <a:latin typeface="Courier New" panose="02070309020205020404" pitchFamily="49" charset="0"/>
                <a:cs typeface="Courier New" panose="02070309020205020404" pitchFamily="49" charset="0"/>
              </a:rPr>
              <a:t>pd.DataFrame</a:t>
            </a:r>
            <a:r>
              <a:rPr lang="en-IN" sz="2000" b="0" dirty="0">
                <a:effectLst/>
                <a:latin typeface="Courier New" panose="02070309020205020404" pitchFamily="49" charset="0"/>
                <a:cs typeface="Courier New" panose="02070309020205020404" pitchFamily="49" charset="0"/>
              </a:rPr>
              <a:t>(data)</a:t>
            </a:r>
          </a:p>
          <a:p>
            <a:pPr>
              <a:lnSpc>
                <a:spcPts val="1425"/>
              </a:lnSpc>
              <a:buNone/>
            </a:pPr>
            <a:br>
              <a:rPr lang="en-IN" sz="2000" b="0" dirty="0">
                <a:effectLst/>
                <a:latin typeface="Courier New" panose="02070309020205020404" pitchFamily="49" charset="0"/>
                <a:cs typeface="Courier New" panose="02070309020205020404" pitchFamily="49" charset="0"/>
              </a:rPr>
            </a:br>
            <a:endParaRPr lang="en-IN" sz="2000" b="0" dirty="0">
              <a:effectLst/>
              <a:latin typeface="Courier New" panose="02070309020205020404" pitchFamily="49" charset="0"/>
              <a:cs typeface="Courier New" panose="02070309020205020404" pitchFamily="49" charset="0"/>
            </a:endParaRPr>
          </a:p>
          <a:p>
            <a:pPr>
              <a:lnSpc>
                <a:spcPts val="1425"/>
              </a:lnSpc>
              <a:buNone/>
            </a:pPr>
            <a:r>
              <a:rPr lang="en-IN" sz="2000" b="0" dirty="0">
                <a:effectLst/>
                <a:latin typeface="Courier New" panose="02070309020205020404" pitchFamily="49" charset="0"/>
                <a:cs typeface="Courier New" panose="02070309020205020404" pitchFamily="49" charset="0"/>
              </a:rPr>
              <a:t># --- 2. Prepare Data for ML Model ---</a:t>
            </a:r>
          </a:p>
          <a:p>
            <a:pPr>
              <a:lnSpc>
                <a:spcPts val="1425"/>
              </a:lnSpc>
              <a:buNone/>
            </a:pPr>
            <a:r>
              <a:rPr lang="en-IN" sz="2000" b="0" dirty="0">
                <a:effectLst/>
                <a:latin typeface="Courier New" panose="02070309020205020404" pitchFamily="49" charset="0"/>
                <a:cs typeface="Courier New" panose="02070309020205020404" pitchFamily="49" charset="0"/>
              </a:rPr>
              <a:t>X = </a:t>
            </a:r>
            <a:r>
              <a:rPr lang="en-IN" sz="2000" b="0" dirty="0" err="1">
                <a:effectLst/>
                <a:latin typeface="Courier New" panose="02070309020205020404" pitchFamily="49" charset="0"/>
                <a:cs typeface="Courier New" panose="02070309020205020404" pitchFamily="49" charset="0"/>
              </a:rPr>
              <a:t>df</a:t>
            </a:r>
            <a:r>
              <a:rPr lang="en-IN" sz="2000" b="0" dirty="0">
                <a:effectLst/>
                <a:latin typeface="Courier New" panose="02070309020205020404" pitchFamily="49" charset="0"/>
                <a:cs typeface="Courier New" panose="02070309020205020404" pitchFamily="49" charset="0"/>
              </a:rPr>
              <a:t>[['N', 'P', 'K', 'temp']]  # Features (Nutrients, Temperature)</a:t>
            </a:r>
          </a:p>
          <a:p>
            <a:pPr>
              <a:lnSpc>
                <a:spcPts val="1425"/>
              </a:lnSpc>
              <a:buNone/>
            </a:pPr>
            <a:r>
              <a:rPr lang="en-IN" sz="2000" b="0" dirty="0">
                <a:effectLst/>
                <a:latin typeface="Courier New" panose="02070309020205020404" pitchFamily="49" charset="0"/>
                <a:cs typeface="Courier New" panose="02070309020205020404" pitchFamily="49" charset="0"/>
              </a:rPr>
              <a:t>y = </a:t>
            </a:r>
            <a:r>
              <a:rPr lang="en-IN" sz="2000" b="0" dirty="0" err="1">
                <a:effectLst/>
                <a:latin typeface="Courier New" panose="02070309020205020404" pitchFamily="49" charset="0"/>
                <a:cs typeface="Courier New" panose="02070309020205020404" pitchFamily="49" charset="0"/>
              </a:rPr>
              <a:t>df</a:t>
            </a:r>
            <a:r>
              <a:rPr lang="en-IN" sz="2000" b="0" dirty="0">
                <a:effectLst/>
                <a:latin typeface="Courier New" panose="02070309020205020404" pitchFamily="49" charset="0"/>
                <a:cs typeface="Courier New" panose="02070309020205020404" pitchFamily="49" charset="0"/>
              </a:rPr>
              <a:t>['crop']                  # Target (Crop)</a:t>
            </a:r>
          </a:p>
          <a:p>
            <a:pPr>
              <a:lnSpc>
                <a:spcPts val="1425"/>
              </a:lnSpc>
              <a:buNone/>
            </a:pPr>
            <a:br>
              <a:rPr lang="en-IN" sz="2000" b="0" dirty="0">
                <a:effectLst/>
                <a:latin typeface="Courier New" panose="02070309020205020404" pitchFamily="49" charset="0"/>
                <a:cs typeface="Courier New" panose="02070309020205020404" pitchFamily="49" charset="0"/>
              </a:rPr>
            </a:br>
            <a:endParaRPr lang="en-IN" sz="2000" b="0" dirty="0">
              <a:effectLst/>
              <a:latin typeface="Courier New" panose="02070309020205020404" pitchFamily="49" charset="0"/>
              <a:cs typeface="Courier New" panose="02070309020205020404" pitchFamily="49" charset="0"/>
            </a:endParaRPr>
          </a:p>
          <a:p>
            <a:pPr>
              <a:lnSpc>
                <a:spcPts val="1425"/>
              </a:lnSpc>
              <a:buNone/>
            </a:pPr>
            <a:r>
              <a:rPr lang="en-IN" sz="2000" b="0" dirty="0" err="1">
                <a:effectLst/>
                <a:latin typeface="Courier New" panose="02070309020205020404" pitchFamily="49" charset="0"/>
                <a:cs typeface="Courier New" panose="02070309020205020404" pitchFamily="49" charset="0"/>
              </a:rPr>
              <a:t>X_train</a:t>
            </a:r>
            <a:r>
              <a:rPr lang="en-IN" sz="2000" b="0" dirty="0">
                <a:effectLst/>
                <a:latin typeface="Courier New" panose="02070309020205020404" pitchFamily="49" charset="0"/>
                <a:cs typeface="Courier New" panose="02070309020205020404" pitchFamily="49" charset="0"/>
              </a:rPr>
              <a:t>, </a:t>
            </a:r>
            <a:r>
              <a:rPr lang="en-IN" sz="2000" b="0" dirty="0" err="1">
                <a:effectLst/>
                <a:latin typeface="Courier New" panose="02070309020205020404" pitchFamily="49" charset="0"/>
                <a:cs typeface="Courier New" panose="02070309020205020404" pitchFamily="49" charset="0"/>
              </a:rPr>
              <a:t>X_test</a:t>
            </a:r>
            <a:r>
              <a:rPr lang="en-IN" sz="2000" b="0" dirty="0">
                <a:effectLst/>
                <a:latin typeface="Courier New" panose="02070309020205020404" pitchFamily="49" charset="0"/>
                <a:cs typeface="Courier New" panose="02070309020205020404" pitchFamily="49" charset="0"/>
              </a:rPr>
              <a:t>, </a:t>
            </a:r>
            <a:r>
              <a:rPr lang="en-IN" sz="2000" b="0" dirty="0" err="1">
                <a:effectLst/>
                <a:latin typeface="Courier New" panose="02070309020205020404" pitchFamily="49" charset="0"/>
                <a:cs typeface="Courier New" panose="02070309020205020404" pitchFamily="49" charset="0"/>
              </a:rPr>
              <a:t>y_train</a:t>
            </a:r>
            <a:r>
              <a:rPr lang="en-IN" sz="2000" b="0" dirty="0">
                <a:effectLst/>
                <a:latin typeface="Courier New" panose="02070309020205020404" pitchFamily="49" charset="0"/>
                <a:cs typeface="Courier New" panose="02070309020205020404" pitchFamily="49" charset="0"/>
              </a:rPr>
              <a:t>, </a:t>
            </a:r>
            <a:r>
              <a:rPr lang="en-IN" sz="2000" b="0" dirty="0" err="1">
                <a:effectLst/>
                <a:latin typeface="Courier New" panose="02070309020205020404" pitchFamily="49" charset="0"/>
                <a:cs typeface="Courier New" panose="02070309020205020404" pitchFamily="49" charset="0"/>
              </a:rPr>
              <a:t>y_test</a:t>
            </a:r>
            <a:r>
              <a:rPr lang="en-IN" sz="2000" b="0" dirty="0">
                <a:effectLst/>
                <a:latin typeface="Courier New" panose="02070309020205020404" pitchFamily="49" charset="0"/>
                <a:cs typeface="Courier New" panose="02070309020205020404" pitchFamily="49" charset="0"/>
              </a:rPr>
              <a:t> = </a:t>
            </a:r>
            <a:r>
              <a:rPr lang="en-IN" sz="2000" b="0" dirty="0" err="1">
                <a:effectLst/>
                <a:latin typeface="Courier New" panose="02070309020205020404" pitchFamily="49" charset="0"/>
                <a:cs typeface="Courier New" panose="02070309020205020404" pitchFamily="49" charset="0"/>
              </a:rPr>
              <a:t>train_test_split</a:t>
            </a:r>
            <a:r>
              <a:rPr lang="en-IN" sz="2000" b="0" dirty="0">
                <a:effectLst/>
                <a:latin typeface="Courier New" panose="02070309020205020404" pitchFamily="49" charset="0"/>
                <a:cs typeface="Courier New" panose="02070309020205020404" pitchFamily="49" charset="0"/>
              </a:rPr>
              <a:t>(X, y, </a:t>
            </a:r>
            <a:r>
              <a:rPr lang="en-IN" sz="2000" b="0" dirty="0" err="1">
                <a:effectLst/>
                <a:latin typeface="Courier New" panose="02070309020205020404" pitchFamily="49" charset="0"/>
                <a:cs typeface="Courier New" panose="02070309020205020404" pitchFamily="49" charset="0"/>
              </a:rPr>
              <a:t>test_size</a:t>
            </a:r>
            <a:r>
              <a:rPr lang="en-IN" sz="2000" b="0" dirty="0">
                <a:effectLst/>
                <a:latin typeface="Courier New" panose="02070309020205020404" pitchFamily="49" charset="0"/>
                <a:cs typeface="Courier New" panose="02070309020205020404" pitchFamily="49" charset="0"/>
              </a:rPr>
              <a:t>=0.3, </a:t>
            </a:r>
            <a:r>
              <a:rPr lang="en-IN" sz="2000" b="0" dirty="0" err="1">
                <a:effectLst/>
                <a:latin typeface="Courier New" panose="02070309020205020404" pitchFamily="49" charset="0"/>
                <a:cs typeface="Courier New" panose="02070309020205020404" pitchFamily="49" charset="0"/>
              </a:rPr>
              <a:t>random_state</a:t>
            </a:r>
            <a:r>
              <a:rPr lang="en-IN" sz="2000" b="0" dirty="0">
                <a:effectLst/>
                <a:latin typeface="Courier New" panose="02070309020205020404" pitchFamily="49" charset="0"/>
                <a:cs typeface="Courier New" panose="02070309020205020404" pitchFamily="49" charset="0"/>
              </a:rPr>
              <a:t>=42)</a:t>
            </a:r>
          </a:p>
          <a:p>
            <a:pPr>
              <a:lnSpc>
                <a:spcPts val="1425"/>
              </a:lnSpc>
              <a:buNone/>
            </a:pPr>
            <a:endParaRPr lang="en-IN" sz="2000" b="0" dirty="0">
              <a:effectLst/>
              <a:latin typeface="Courier New" panose="02070309020205020404" pitchFamily="49" charset="0"/>
              <a:cs typeface="Courier New" panose="02070309020205020404" pitchFamily="49" charset="0"/>
            </a:endParaRPr>
          </a:p>
          <a:p>
            <a:pPr>
              <a:lnSpc>
                <a:spcPts val="1425"/>
              </a:lnSpc>
              <a:buNone/>
            </a:pPr>
            <a:br>
              <a:rPr lang="en-IN" sz="2000" b="0" dirty="0">
                <a:effectLst/>
                <a:latin typeface="Courier New" panose="02070309020205020404" pitchFamily="49" charset="0"/>
                <a:cs typeface="Courier New" panose="02070309020205020404" pitchFamily="49" charset="0"/>
              </a:rPr>
            </a:br>
            <a:endParaRPr lang="en-IN" sz="2000" b="0" dirty="0">
              <a:effectLst/>
              <a:latin typeface="Courier New" panose="02070309020205020404" pitchFamily="49" charset="0"/>
              <a:cs typeface="Courier New" panose="02070309020205020404" pitchFamily="49" charset="0"/>
            </a:endParaRPr>
          </a:p>
          <a:p>
            <a:pPr>
              <a:lnSpc>
                <a:spcPts val="1425"/>
              </a:lnSpc>
              <a:buNone/>
            </a:pPr>
            <a:endParaRPr lang="en-IN" sz="2000" b="0" dirty="0">
              <a:effectLst/>
              <a:latin typeface="Courier New" panose="02070309020205020404" pitchFamily="49" charset="0"/>
              <a:cs typeface="Courier New" panose="02070309020205020404" pitchFamily="49" charset="0"/>
            </a:endParaRPr>
          </a:p>
        </p:txBody>
      </p:sp>
      <p:sp>
        <p:nvSpPr>
          <p:cNvPr id="4" name="TextBox 3">
            <a:extLst>
              <a:ext uri="{FF2B5EF4-FFF2-40B4-BE49-F238E27FC236}">
                <a16:creationId xmlns:a16="http://schemas.microsoft.com/office/drawing/2014/main" id="{14D59BB3-B180-5B47-524A-8ACB96260156}"/>
              </a:ext>
            </a:extLst>
          </p:cNvPr>
          <p:cNvSpPr txBox="1"/>
          <p:nvPr/>
        </p:nvSpPr>
        <p:spPr>
          <a:xfrm>
            <a:off x="505326" y="288757"/>
            <a:ext cx="4259179" cy="461665"/>
          </a:xfrm>
          <a:prstGeom prst="rect">
            <a:avLst/>
          </a:prstGeom>
          <a:noFill/>
        </p:spPr>
        <p:txBody>
          <a:bodyPr wrap="square" rtlCol="0">
            <a:spAutoFit/>
          </a:bodyPr>
          <a:lstStyle/>
          <a:p>
            <a:r>
              <a:rPr lang="en-IN" sz="2400" b="1" dirty="0"/>
              <a:t>SOURCE</a:t>
            </a:r>
            <a:r>
              <a:rPr lang="en-IN" dirty="0"/>
              <a:t> </a:t>
            </a:r>
            <a:r>
              <a:rPr lang="en-IN" sz="2400" b="1" dirty="0"/>
              <a:t>CODE</a:t>
            </a:r>
          </a:p>
        </p:txBody>
      </p:sp>
    </p:spTree>
    <p:extLst>
      <p:ext uri="{BB962C8B-B14F-4D97-AF65-F5344CB8AC3E}">
        <p14:creationId xmlns:p14="http://schemas.microsoft.com/office/powerpoint/2010/main" val="13148470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6500E0-D41D-8401-83D8-FB1A4E949D20}"/>
              </a:ext>
            </a:extLst>
          </p:cNvPr>
          <p:cNvSpPr txBox="1"/>
          <p:nvPr/>
        </p:nvSpPr>
        <p:spPr>
          <a:xfrm>
            <a:off x="180473" y="180473"/>
            <a:ext cx="8085222" cy="4074192"/>
          </a:xfrm>
          <a:prstGeom prst="rect">
            <a:avLst/>
          </a:prstGeom>
          <a:noFill/>
        </p:spPr>
        <p:txBody>
          <a:bodyPr wrap="square">
            <a:spAutoFit/>
          </a:bodyPr>
          <a:lstStyle/>
          <a:p>
            <a:pPr>
              <a:lnSpc>
                <a:spcPts val="1425"/>
              </a:lnSpc>
              <a:buNone/>
            </a:pPr>
            <a:r>
              <a:rPr lang="en-IN" sz="2000" b="0" dirty="0">
                <a:effectLst/>
                <a:latin typeface="Courier New" panose="02070309020205020404" pitchFamily="49" charset="0"/>
              </a:rPr>
              <a:t># --- 3. Train the Model ---</a:t>
            </a:r>
          </a:p>
          <a:p>
            <a:pPr>
              <a:lnSpc>
                <a:spcPts val="1425"/>
              </a:lnSpc>
              <a:buNone/>
            </a:pPr>
            <a:r>
              <a:rPr lang="en-IN" sz="2000" b="0" dirty="0">
                <a:effectLst/>
                <a:latin typeface="Courier New" panose="02070309020205020404" pitchFamily="49" charset="0"/>
              </a:rPr>
              <a:t>model = </a:t>
            </a:r>
            <a:r>
              <a:rPr lang="en-IN" sz="2000" b="0" dirty="0" err="1">
                <a:effectLst/>
                <a:latin typeface="Courier New" panose="02070309020205020404" pitchFamily="49" charset="0"/>
              </a:rPr>
              <a:t>DecisionTreeClassifier</a:t>
            </a:r>
            <a:r>
              <a:rPr lang="en-IN" sz="2000" b="0" dirty="0">
                <a:effectLst/>
                <a:latin typeface="Courier New" panose="02070309020205020404" pitchFamily="49" charset="0"/>
              </a:rPr>
              <a:t>(</a:t>
            </a:r>
            <a:r>
              <a:rPr lang="en-IN" sz="2000" b="0" dirty="0" err="1">
                <a:effectLst/>
                <a:latin typeface="Courier New" panose="02070309020205020404" pitchFamily="49" charset="0"/>
              </a:rPr>
              <a:t>random_state</a:t>
            </a:r>
            <a:r>
              <a:rPr lang="en-IN" sz="2000" b="0" dirty="0">
                <a:effectLst/>
                <a:latin typeface="Courier New" panose="02070309020205020404" pitchFamily="49" charset="0"/>
              </a:rPr>
              <a:t>=42)</a:t>
            </a:r>
          </a:p>
          <a:p>
            <a:pPr>
              <a:lnSpc>
                <a:spcPts val="1425"/>
              </a:lnSpc>
              <a:buNone/>
            </a:pPr>
            <a:r>
              <a:rPr lang="en-IN" sz="2000" b="0" dirty="0" err="1">
                <a:effectLst/>
                <a:latin typeface="Courier New" panose="02070309020205020404" pitchFamily="49" charset="0"/>
              </a:rPr>
              <a:t>model.fit</a:t>
            </a:r>
            <a:r>
              <a:rPr lang="en-IN" sz="2000" b="0" dirty="0">
                <a:effectLst/>
                <a:latin typeface="Courier New" panose="02070309020205020404" pitchFamily="49" charset="0"/>
              </a:rPr>
              <a:t>(</a:t>
            </a:r>
            <a:r>
              <a:rPr lang="en-IN" sz="2000" b="0" dirty="0" err="1">
                <a:effectLst/>
                <a:latin typeface="Courier New" panose="02070309020205020404" pitchFamily="49" charset="0"/>
              </a:rPr>
              <a:t>X_train</a:t>
            </a:r>
            <a:r>
              <a:rPr lang="en-IN" sz="2000" b="0" dirty="0">
                <a:effectLst/>
                <a:latin typeface="Courier New" panose="02070309020205020404" pitchFamily="49" charset="0"/>
              </a:rPr>
              <a:t>, </a:t>
            </a:r>
            <a:r>
              <a:rPr lang="en-IN" sz="2000" b="0" dirty="0" err="1">
                <a:effectLst/>
                <a:latin typeface="Courier New" panose="02070309020205020404" pitchFamily="49" charset="0"/>
              </a:rPr>
              <a:t>y_train</a:t>
            </a:r>
            <a:r>
              <a:rPr lang="en-IN" sz="2000" b="0" dirty="0">
                <a:effectLst/>
                <a:latin typeface="Courier New" panose="02070309020205020404" pitchFamily="49" charset="0"/>
              </a:rPr>
              <a:t>)</a:t>
            </a:r>
          </a:p>
          <a:p>
            <a:pPr>
              <a:lnSpc>
                <a:spcPts val="1425"/>
              </a:lnSpc>
              <a:buNone/>
            </a:pPr>
            <a:br>
              <a:rPr lang="en-IN" sz="2000" b="0" dirty="0">
                <a:effectLst/>
                <a:latin typeface="Courier New" panose="02070309020205020404" pitchFamily="49" charset="0"/>
              </a:rPr>
            </a:br>
            <a:endParaRPr lang="en-IN" sz="2000" b="0" dirty="0">
              <a:effectLst/>
              <a:latin typeface="Courier New" panose="02070309020205020404" pitchFamily="49" charset="0"/>
            </a:endParaRPr>
          </a:p>
          <a:p>
            <a:pPr>
              <a:lnSpc>
                <a:spcPts val="1425"/>
              </a:lnSpc>
              <a:buNone/>
            </a:pPr>
            <a:r>
              <a:rPr lang="en-IN" sz="2000" b="0" dirty="0">
                <a:effectLst/>
                <a:latin typeface="Courier New" panose="02070309020205020404" pitchFamily="49" charset="0"/>
              </a:rPr>
              <a:t># --- 4. Prediction Function ---</a:t>
            </a:r>
          </a:p>
          <a:p>
            <a:pPr>
              <a:lnSpc>
                <a:spcPts val="1425"/>
              </a:lnSpc>
              <a:buNone/>
            </a:pPr>
            <a:r>
              <a:rPr lang="en-IN" sz="2000" b="0" dirty="0">
                <a:effectLst/>
                <a:latin typeface="Courier New" panose="02070309020205020404" pitchFamily="49" charset="0"/>
              </a:rPr>
              <a:t>def </a:t>
            </a:r>
            <a:r>
              <a:rPr lang="en-IN" sz="2000" b="0" dirty="0" err="1">
                <a:effectLst/>
                <a:latin typeface="Courier New" panose="02070309020205020404" pitchFamily="49" charset="0"/>
              </a:rPr>
              <a:t>recommend_crop</a:t>
            </a:r>
            <a:r>
              <a:rPr lang="en-IN" sz="2000" b="0" dirty="0">
                <a:effectLst/>
                <a:latin typeface="Courier New" panose="02070309020205020404" pitchFamily="49" charset="0"/>
              </a:rPr>
              <a:t>(nitrogen, phosphorus, potassium, temperature):</a:t>
            </a:r>
          </a:p>
          <a:p>
            <a:pPr>
              <a:lnSpc>
                <a:spcPts val="1425"/>
              </a:lnSpc>
              <a:buNone/>
            </a:pPr>
            <a:r>
              <a:rPr lang="en-IN" sz="2000" b="0" dirty="0">
                <a:effectLst/>
                <a:latin typeface="Courier New" panose="02070309020205020404" pitchFamily="49" charset="0"/>
              </a:rPr>
              <a:t>    """Predicts the best crop based on soil and environmental data."""</a:t>
            </a:r>
          </a:p>
          <a:p>
            <a:pPr>
              <a:lnSpc>
                <a:spcPts val="1425"/>
              </a:lnSpc>
              <a:buNone/>
            </a:pPr>
            <a:r>
              <a:rPr lang="en-IN" sz="2000" b="0" dirty="0">
                <a:effectLst/>
                <a:latin typeface="Courier New" panose="02070309020205020404" pitchFamily="49" charset="0"/>
              </a:rPr>
              <a:t>    # Create a </a:t>
            </a:r>
            <a:r>
              <a:rPr lang="en-IN" sz="2000" b="0" dirty="0" err="1">
                <a:effectLst/>
                <a:latin typeface="Courier New" panose="02070309020205020404" pitchFamily="49" charset="0"/>
              </a:rPr>
              <a:t>DataFrame</a:t>
            </a:r>
            <a:r>
              <a:rPr lang="en-IN" sz="2000" b="0" dirty="0">
                <a:effectLst/>
                <a:latin typeface="Courier New" panose="02070309020205020404" pitchFamily="49" charset="0"/>
              </a:rPr>
              <a:t> for the new input</a:t>
            </a:r>
          </a:p>
          <a:p>
            <a:pPr>
              <a:lnSpc>
                <a:spcPts val="1425"/>
              </a:lnSpc>
              <a:buNone/>
            </a:pPr>
            <a:r>
              <a:rPr lang="en-IN" sz="2000" b="0" dirty="0">
                <a:effectLst/>
                <a:latin typeface="Courier New" panose="02070309020205020404" pitchFamily="49" charset="0"/>
              </a:rPr>
              <a:t>    </a:t>
            </a:r>
            <a:r>
              <a:rPr lang="en-IN" sz="2000" b="0" dirty="0" err="1">
                <a:effectLst/>
                <a:latin typeface="Courier New" panose="02070309020205020404" pitchFamily="49" charset="0"/>
              </a:rPr>
              <a:t>new_data</a:t>
            </a:r>
            <a:r>
              <a:rPr lang="en-IN" sz="2000" b="0" dirty="0">
                <a:effectLst/>
                <a:latin typeface="Courier New" panose="02070309020205020404" pitchFamily="49" charset="0"/>
              </a:rPr>
              <a:t> = </a:t>
            </a:r>
            <a:r>
              <a:rPr lang="en-IN" sz="2000" b="0" dirty="0" err="1">
                <a:effectLst/>
                <a:latin typeface="Courier New" panose="02070309020205020404" pitchFamily="49" charset="0"/>
              </a:rPr>
              <a:t>pd.DataFrame</a:t>
            </a:r>
            <a:r>
              <a:rPr lang="en-IN" sz="2000" b="0" dirty="0">
                <a:effectLst/>
                <a:latin typeface="Courier New" panose="02070309020205020404" pitchFamily="49" charset="0"/>
              </a:rPr>
              <a:t>([[nitrogen, phosphorus, potassium, temperature]], </a:t>
            </a:r>
          </a:p>
          <a:p>
            <a:pPr>
              <a:lnSpc>
                <a:spcPts val="1425"/>
              </a:lnSpc>
              <a:buNone/>
            </a:pPr>
            <a:r>
              <a:rPr lang="en-IN" sz="2000" b="0" dirty="0">
                <a:effectLst/>
                <a:latin typeface="Courier New" panose="02070309020205020404" pitchFamily="49" charset="0"/>
              </a:rPr>
              <a:t>                            columns=['N', 'P', 'K', 'temp'])</a:t>
            </a:r>
          </a:p>
          <a:p>
            <a:pPr>
              <a:lnSpc>
                <a:spcPts val="1425"/>
              </a:lnSpc>
              <a:buNone/>
            </a:pPr>
            <a:r>
              <a:rPr lang="en-IN" sz="2000" b="0" dirty="0">
                <a:effectLst/>
                <a:latin typeface="Courier New" panose="02070309020205020404" pitchFamily="49" charset="0"/>
              </a:rPr>
              <a:t>    </a:t>
            </a:r>
          </a:p>
          <a:p>
            <a:pPr>
              <a:lnSpc>
                <a:spcPts val="1425"/>
              </a:lnSpc>
              <a:buNone/>
            </a:pPr>
            <a:r>
              <a:rPr lang="en-IN" sz="2000" b="0" dirty="0">
                <a:effectLst/>
                <a:latin typeface="Courier New" panose="02070309020205020404" pitchFamily="49" charset="0"/>
              </a:rPr>
              <a:t>    # Make the prediction</a:t>
            </a:r>
          </a:p>
          <a:p>
            <a:pPr>
              <a:lnSpc>
                <a:spcPts val="1425"/>
              </a:lnSpc>
              <a:buNone/>
            </a:pPr>
            <a:r>
              <a:rPr lang="en-IN" sz="2000" b="0" dirty="0">
                <a:effectLst/>
                <a:latin typeface="Courier New" panose="02070309020205020404" pitchFamily="49" charset="0"/>
              </a:rPr>
              <a:t>    prediction = </a:t>
            </a:r>
            <a:r>
              <a:rPr lang="en-IN" sz="2000" b="0" dirty="0" err="1">
                <a:effectLst/>
                <a:latin typeface="Courier New" panose="02070309020205020404" pitchFamily="49" charset="0"/>
              </a:rPr>
              <a:t>model.predict</a:t>
            </a:r>
            <a:r>
              <a:rPr lang="en-IN" sz="2000" b="0" dirty="0">
                <a:effectLst/>
                <a:latin typeface="Courier New" panose="02070309020205020404" pitchFamily="49" charset="0"/>
              </a:rPr>
              <a:t>(</a:t>
            </a:r>
            <a:r>
              <a:rPr lang="en-IN" sz="2000" b="0" dirty="0" err="1">
                <a:effectLst/>
                <a:latin typeface="Courier New" panose="02070309020205020404" pitchFamily="49" charset="0"/>
              </a:rPr>
              <a:t>new_data</a:t>
            </a:r>
            <a:r>
              <a:rPr lang="en-IN" sz="2000" b="0" dirty="0">
                <a:effectLst/>
                <a:latin typeface="Courier New" panose="02070309020205020404" pitchFamily="49" charset="0"/>
              </a:rPr>
              <a:t>)</a:t>
            </a:r>
          </a:p>
          <a:p>
            <a:pPr>
              <a:lnSpc>
                <a:spcPts val="1425"/>
              </a:lnSpc>
              <a:buNone/>
            </a:pPr>
            <a:r>
              <a:rPr lang="en-IN" sz="2000" b="0" dirty="0">
                <a:effectLst/>
                <a:latin typeface="Courier New" panose="02070309020205020404" pitchFamily="49" charset="0"/>
              </a:rPr>
              <a:t>    </a:t>
            </a:r>
          </a:p>
          <a:p>
            <a:pPr>
              <a:lnSpc>
                <a:spcPts val="1425"/>
              </a:lnSpc>
              <a:buNone/>
            </a:pPr>
            <a:r>
              <a:rPr lang="en-IN" sz="2000" b="0" dirty="0">
                <a:effectLst/>
                <a:latin typeface="Courier New" panose="02070309020205020404" pitchFamily="49" charset="0"/>
              </a:rPr>
              <a:t>    return prediction[0].capitalize()</a:t>
            </a:r>
          </a:p>
          <a:p>
            <a:pPr>
              <a:lnSpc>
                <a:spcPts val="1425"/>
              </a:lnSpc>
              <a:buNone/>
            </a:pPr>
            <a:br>
              <a:rPr lang="en-IN" sz="2000" b="0" dirty="0">
                <a:effectLst/>
                <a:latin typeface="Courier New" panose="02070309020205020404" pitchFamily="49" charset="0"/>
              </a:rPr>
            </a:br>
            <a:endParaRPr lang="en-IN" sz="2000" b="0" dirty="0">
              <a:effectLst/>
              <a:latin typeface="Courier New" panose="02070309020205020404" pitchFamily="49" charset="0"/>
            </a:endParaRPr>
          </a:p>
        </p:txBody>
      </p:sp>
      <p:sp>
        <p:nvSpPr>
          <p:cNvPr id="5" name="TextBox 4">
            <a:extLst>
              <a:ext uri="{FF2B5EF4-FFF2-40B4-BE49-F238E27FC236}">
                <a16:creationId xmlns:a16="http://schemas.microsoft.com/office/drawing/2014/main" id="{4DF85521-84DE-529B-555F-86B2C8AC309A}"/>
              </a:ext>
            </a:extLst>
          </p:cNvPr>
          <p:cNvSpPr txBox="1"/>
          <p:nvPr/>
        </p:nvSpPr>
        <p:spPr>
          <a:xfrm>
            <a:off x="288757" y="4014625"/>
            <a:ext cx="5988719" cy="2458365"/>
          </a:xfrm>
          <a:prstGeom prst="rect">
            <a:avLst/>
          </a:prstGeom>
          <a:noFill/>
        </p:spPr>
        <p:txBody>
          <a:bodyPr wrap="square">
            <a:spAutoFit/>
          </a:bodyPr>
          <a:lstStyle/>
          <a:p>
            <a:pPr>
              <a:lnSpc>
                <a:spcPts val="1425"/>
              </a:lnSpc>
              <a:buNone/>
            </a:pPr>
            <a:r>
              <a:rPr lang="en-IN" sz="2000" b="0" dirty="0">
                <a:effectLst/>
                <a:latin typeface="Courier New" panose="02070309020205020404" pitchFamily="49" charset="0"/>
              </a:rPr>
              <a:t># --- 5. Example Usage ---</a:t>
            </a:r>
          </a:p>
          <a:p>
            <a:pPr>
              <a:lnSpc>
                <a:spcPts val="1425"/>
              </a:lnSpc>
              <a:buNone/>
            </a:pPr>
            <a:r>
              <a:rPr lang="en-IN" sz="2000" b="0" dirty="0">
                <a:effectLst/>
                <a:latin typeface="Courier New" panose="02070309020205020404" pitchFamily="49" charset="0"/>
              </a:rPr>
              <a:t>N_val = 90</a:t>
            </a:r>
          </a:p>
          <a:p>
            <a:pPr>
              <a:lnSpc>
                <a:spcPts val="1425"/>
              </a:lnSpc>
              <a:buNone/>
            </a:pPr>
            <a:r>
              <a:rPr lang="en-IN" sz="2000" b="0" dirty="0" err="1">
                <a:effectLst/>
                <a:latin typeface="Courier New" panose="02070309020205020404" pitchFamily="49" charset="0"/>
              </a:rPr>
              <a:t>P_val</a:t>
            </a:r>
            <a:r>
              <a:rPr lang="en-IN" sz="2000" b="0" dirty="0">
                <a:effectLst/>
                <a:latin typeface="Courier New" panose="02070309020205020404" pitchFamily="49" charset="0"/>
              </a:rPr>
              <a:t> = 40</a:t>
            </a:r>
          </a:p>
          <a:p>
            <a:pPr>
              <a:lnSpc>
                <a:spcPts val="1425"/>
              </a:lnSpc>
              <a:buNone/>
            </a:pPr>
            <a:r>
              <a:rPr lang="en-IN" sz="2000" b="0" dirty="0" err="1">
                <a:effectLst/>
                <a:latin typeface="Courier New" panose="02070309020205020404" pitchFamily="49" charset="0"/>
              </a:rPr>
              <a:t>K_val</a:t>
            </a:r>
            <a:r>
              <a:rPr lang="en-IN" sz="2000" b="0" dirty="0">
                <a:effectLst/>
                <a:latin typeface="Courier New" panose="02070309020205020404" pitchFamily="49" charset="0"/>
              </a:rPr>
              <a:t> = 45</a:t>
            </a:r>
          </a:p>
          <a:p>
            <a:pPr>
              <a:lnSpc>
                <a:spcPts val="1425"/>
              </a:lnSpc>
              <a:buNone/>
            </a:pPr>
            <a:r>
              <a:rPr lang="en-IN" sz="2000" b="0" dirty="0" err="1">
                <a:effectLst/>
                <a:latin typeface="Courier New" panose="02070309020205020404" pitchFamily="49" charset="0"/>
              </a:rPr>
              <a:t>T_val</a:t>
            </a:r>
            <a:r>
              <a:rPr lang="en-IN" sz="2000" b="0" dirty="0">
                <a:effectLst/>
                <a:latin typeface="Courier New" panose="02070309020205020404" pitchFamily="49" charset="0"/>
              </a:rPr>
              <a:t> = 21.5</a:t>
            </a:r>
          </a:p>
          <a:p>
            <a:pPr>
              <a:lnSpc>
                <a:spcPts val="1425"/>
              </a:lnSpc>
              <a:buNone/>
            </a:pPr>
            <a:br>
              <a:rPr lang="en-IN" sz="2000" b="0" dirty="0">
                <a:effectLst/>
                <a:latin typeface="Courier New" panose="02070309020205020404" pitchFamily="49" charset="0"/>
              </a:rPr>
            </a:br>
            <a:endParaRPr lang="en-IN" sz="2000" b="0" dirty="0">
              <a:effectLst/>
              <a:latin typeface="Courier New" panose="02070309020205020404" pitchFamily="49" charset="0"/>
            </a:endParaRPr>
          </a:p>
          <a:p>
            <a:pPr>
              <a:lnSpc>
                <a:spcPts val="1425"/>
              </a:lnSpc>
              <a:buNone/>
            </a:pPr>
            <a:r>
              <a:rPr lang="en-IN" sz="2000" b="0" dirty="0">
                <a:effectLst/>
                <a:latin typeface="Courier New" panose="02070309020205020404" pitchFamily="49" charset="0"/>
              </a:rPr>
              <a:t>predicted_crop = </a:t>
            </a:r>
            <a:r>
              <a:rPr lang="en-IN" sz="2000" b="0" dirty="0" err="1">
                <a:effectLst/>
                <a:latin typeface="Courier New" panose="02070309020205020404" pitchFamily="49" charset="0"/>
              </a:rPr>
              <a:t>recommend_crop</a:t>
            </a:r>
            <a:r>
              <a:rPr lang="en-IN" sz="2000" b="0" dirty="0">
                <a:effectLst/>
                <a:latin typeface="Courier New" panose="02070309020205020404" pitchFamily="49" charset="0"/>
              </a:rPr>
              <a:t>(N_val, </a:t>
            </a:r>
            <a:r>
              <a:rPr lang="en-IN" sz="2000" b="0" dirty="0" err="1">
                <a:effectLst/>
                <a:latin typeface="Courier New" panose="02070309020205020404" pitchFamily="49" charset="0"/>
              </a:rPr>
              <a:t>P_val</a:t>
            </a:r>
            <a:r>
              <a:rPr lang="en-IN" sz="2000" b="0" dirty="0">
                <a:effectLst/>
                <a:latin typeface="Courier New" panose="02070309020205020404" pitchFamily="49" charset="0"/>
              </a:rPr>
              <a:t>, </a:t>
            </a:r>
            <a:r>
              <a:rPr lang="en-IN" sz="2000" b="0" dirty="0" err="1">
                <a:effectLst/>
                <a:latin typeface="Courier New" panose="02070309020205020404" pitchFamily="49" charset="0"/>
              </a:rPr>
              <a:t>K_val</a:t>
            </a:r>
            <a:r>
              <a:rPr lang="en-IN" sz="2000" b="0" dirty="0">
                <a:effectLst/>
                <a:latin typeface="Courier New" panose="02070309020205020404" pitchFamily="49" charset="0"/>
              </a:rPr>
              <a:t>, </a:t>
            </a:r>
            <a:r>
              <a:rPr lang="en-IN" sz="2000" b="0" dirty="0" err="1">
                <a:effectLst/>
                <a:latin typeface="Courier New" panose="02070309020205020404" pitchFamily="49" charset="0"/>
              </a:rPr>
              <a:t>T_val</a:t>
            </a:r>
            <a:r>
              <a:rPr lang="en-IN" sz="2000" b="0" dirty="0">
                <a:effectLst/>
                <a:latin typeface="Courier New" panose="02070309020205020404" pitchFamily="49" charset="0"/>
              </a:rPr>
              <a:t>)</a:t>
            </a:r>
          </a:p>
          <a:p>
            <a:pPr>
              <a:lnSpc>
                <a:spcPts val="1425"/>
              </a:lnSpc>
              <a:buNone/>
            </a:pPr>
            <a:r>
              <a:rPr lang="en-IN" sz="2000" b="0" dirty="0">
                <a:effectLst/>
                <a:latin typeface="Courier New" panose="02070309020205020404" pitchFamily="49" charset="0"/>
              </a:rPr>
              <a:t>print(</a:t>
            </a:r>
            <a:r>
              <a:rPr lang="en-IN" sz="2000" b="0" dirty="0" err="1">
                <a:effectLst/>
                <a:latin typeface="Courier New" panose="02070309020205020404" pitchFamily="49" charset="0"/>
              </a:rPr>
              <a:t>f"For</a:t>
            </a:r>
            <a:r>
              <a:rPr lang="en-IN" sz="2000" b="0" dirty="0">
                <a:effectLst/>
                <a:latin typeface="Courier New" panose="02070309020205020404" pitchFamily="49" charset="0"/>
              </a:rPr>
              <a:t> N={N_val}, P={</a:t>
            </a:r>
            <a:r>
              <a:rPr lang="en-IN" sz="2000" b="0" dirty="0" err="1">
                <a:effectLst/>
                <a:latin typeface="Courier New" panose="02070309020205020404" pitchFamily="49" charset="0"/>
              </a:rPr>
              <a:t>P_val</a:t>
            </a:r>
            <a:r>
              <a:rPr lang="en-IN" sz="2000" b="0" dirty="0">
                <a:effectLst/>
                <a:latin typeface="Courier New" panose="02070309020205020404" pitchFamily="49" charset="0"/>
              </a:rPr>
              <a:t>}, K={</a:t>
            </a:r>
            <a:r>
              <a:rPr lang="en-IN" sz="2000" b="0" dirty="0" err="1">
                <a:effectLst/>
                <a:latin typeface="Courier New" panose="02070309020205020404" pitchFamily="49" charset="0"/>
              </a:rPr>
              <a:t>K_val</a:t>
            </a:r>
            <a:r>
              <a:rPr lang="en-IN" sz="2000" b="0" dirty="0">
                <a:effectLst/>
                <a:latin typeface="Courier New" panose="02070309020205020404" pitchFamily="49" charset="0"/>
              </a:rPr>
              <a:t>}, Temp={</a:t>
            </a:r>
            <a:r>
              <a:rPr lang="en-IN" sz="2000" b="0" dirty="0" err="1">
                <a:effectLst/>
                <a:latin typeface="Courier New" panose="02070309020205020404" pitchFamily="49" charset="0"/>
              </a:rPr>
              <a:t>T_val</a:t>
            </a:r>
            <a:r>
              <a:rPr lang="en-IN" sz="2000" b="0" dirty="0">
                <a:effectLst/>
                <a:latin typeface="Courier New" panose="02070309020205020404" pitchFamily="49" charset="0"/>
              </a:rPr>
              <a:t>}°C, the recommended crop is: *{predicted_crop}*")</a:t>
            </a:r>
          </a:p>
        </p:txBody>
      </p:sp>
    </p:spTree>
    <p:extLst>
      <p:ext uri="{BB962C8B-B14F-4D97-AF65-F5344CB8AC3E}">
        <p14:creationId xmlns:p14="http://schemas.microsoft.com/office/powerpoint/2010/main" val="16910709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7C6CBC6-7304-9EC0-0D2A-1BDC6DB2F2A3}"/>
              </a:ext>
            </a:extLst>
          </p:cNvPr>
          <p:cNvPicPr>
            <a:picLocks noChangeAspect="1"/>
          </p:cNvPicPr>
          <p:nvPr/>
        </p:nvPicPr>
        <p:blipFill>
          <a:blip r:embed="rId2"/>
          <a:stretch>
            <a:fillRect/>
          </a:stretch>
        </p:blipFill>
        <p:spPr>
          <a:xfrm>
            <a:off x="252663" y="96252"/>
            <a:ext cx="5498432" cy="2514601"/>
          </a:xfrm>
          <a:prstGeom prst="rect">
            <a:avLst/>
          </a:prstGeom>
        </p:spPr>
      </p:pic>
      <p:pic>
        <p:nvPicPr>
          <p:cNvPr id="7" name="Picture 6">
            <a:extLst>
              <a:ext uri="{FF2B5EF4-FFF2-40B4-BE49-F238E27FC236}">
                <a16:creationId xmlns:a16="http://schemas.microsoft.com/office/drawing/2014/main" id="{479C49F7-588B-CF39-E743-23AE7876D8D3}"/>
              </a:ext>
            </a:extLst>
          </p:cNvPr>
          <p:cNvPicPr>
            <a:picLocks noChangeAspect="1"/>
          </p:cNvPicPr>
          <p:nvPr/>
        </p:nvPicPr>
        <p:blipFill>
          <a:blip r:embed="rId3"/>
          <a:stretch>
            <a:fillRect/>
          </a:stretch>
        </p:blipFill>
        <p:spPr>
          <a:xfrm>
            <a:off x="6096000" y="96252"/>
            <a:ext cx="5646823" cy="2514601"/>
          </a:xfrm>
          <a:prstGeom prst="rect">
            <a:avLst/>
          </a:prstGeom>
        </p:spPr>
      </p:pic>
      <p:pic>
        <p:nvPicPr>
          <p:cNvPr id="9" name="Picture 8">
            <a:extLst>
              <a:ext uri="{FF2B5EF4-FFF2-40B4-BE49-F238E27FC236}">
                <a16:creationId xmlns:a16="http://schemas.microsoft.com/office/drawing/2014/main" id="{25B32222-428F-D316-2357-0A208D035772}"/>
              </a:ext>
            </a:extLst>
          </p:cNvPr>
          <p:cNvPicPr>
            <a:picLocks noChangeAspect="1"/>
          </p:cNvPicPr>
          <p:nvPr/>
        </p:nvPicPr>
        <p:blipFill>
          <a:blip r:embed="rId4"/>
          <a:stretch>
            <a:fillRect/>
          </a:stretch>
        </p:blipFill>
        <p:spPr>
          <a:xfrm>
            <a:off x="3401641" y="2762753"/>
            <a:ext cx="4935689" cy="1688931"/>
          </a:xfrm>
          <a:prstGeom prst="rect">
            <a:avLst/>
          </a:prstGeom>
        </p:spPr>
      </p:pic>
      <p:sp>
        <p:nvSpPr>
          <p:cNvPr id="10" name="TextBox 9">
            <a:extLst>
              <a:ext uri="{FF2B5EF4-FFF2-40B4-BE49-F238E27FC236}">
                <a16:creationId xmlns:a16="http://schemas.microsoft.com/office/drawing/2014/main" id="{B75D5B28-2687-43FC-6D6E-FDD4FBF51C2D}"/>
              </a:ext>
            </a:extLst>
          </p:cNvPr>
          <p:cNvSpPr txBox="1"/>
          <p:nvPr/>
        </p:nvSpPr>
        <p:spPr>
          <a:xfrm>
            <a:off x="806116" y="5089358"/>
            <a:ext cx="7071231" cy="1200329"/>
          </a:xfrm>
          <a:prstGeom prst="rect">
            <a:avLst/>
          </a:prstGeom>
          <a:noFill/>
        </p:spPr>
        <p:txBody>
          <a:bodyPr wrap="none" rtlCol="0">
            <a:spAutoFit/>
          </a:bodyPr>
          <a:lstStyle/>
          <a:p>
            <a:r>
              <a:rPr lang="en-IN" dirty="0"/>
              <a:t>“Code that predicts the best crop to grow based on soil</a:t>
            </a:r>
          </a:p>
          <a:p>
            <a:r>
              <a:rPr lang="en-IN" dirty="0"/>
              <a:t>Nutrients and temperature.</a:t>
            </a:r>
          </a:p>
          <a:p>
            <a:r>
              <a:rPr lang="en-IN" dirty="0"/>
              <a:t>It uses a machine learning model called a “Decision Tree Classifier”</a:t>
            </a:r>
          </a:p>
          <a:p>
            <a:r>
              <a:rPr lang="en-IN" dirty="0"/>
              <a:t>Trained on sample crop data.”</a:t>
            </a:r>
          </a:p>
        </p:txBody>
      </p:sp>
    </p:spTree>
    <p:extLst>
      <p:ext uri="{BB962C8B-B14F-4D97-AF65-F5344CB8AC3E}">
        <p14:creationId xmlns:p14="http://schemas.microsoft.com/office/powerpoint/2010/main" val="26441184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4380" y="1227222"/>
            <a:ext cx="7014410" cy="5078313"/>
          </a:xfrm>
          <a:prstGeom prst="rect">
            <a:avLst/>
          </a:prstGeom>
          <a:noFill/>
        </p:spPr>
        <p:txBody>
          <a:bodyPr wrap="square">
            <a:spAutoFit/>
          </a:bodyPr>
          <a:lstStyle/>
          <a:p>
            <a:endParaRPr lang="en-US" dirty="0"/>
          </a:p>
          <a:p>
            <a:r>
              <a:rPr lang="en-US" dirty="0"/>
              <a:t>• High Initial Costs – AI tools, drones, and sensors are expensive for small farmers.</a:t>
            </a:r>
          </a:p>
          <a:p>
            <a:endParaRPr lang="en-US" dirty="0"/>
          </a:p>
          <a:p>
            <a:r>
              <a:rPr lang="en-US" dirty="0"/>
              <a:t>• Connectivity Issues – Rural areas often lack proper internet and digital infrastructure.</a:t>
            </a:r>
          </a:p>
          <a:p>
            <a:endParaRPr lang="en-US" dirty="0"/>
          </a:p>
          <a:p>
            <a:r>
              <a:rPr lang="en-US" dirty="0"/>
              <a:t>• Lack of Awareness &amp; Training – Many farmers are not familiar with AI technologies.</a:t>
            </a:r>
          </a:p>
          <a:p>
            <a:endParaRPr lang="en-US" dirty="0"/>
          </a:p>
          <a:p>
            <a:r>
              <a:rPr lang="en-US" dirty="0"/>
              <a:t>• Data Privacy Concerns – Farmer data needs to be securely stored and used.</a:t>
            </a:r>
          </a:p>
          <a:p>
            <a:endParaRPr lang="en-US" dirty="0"/>
          </a:p>
          <a:p>
            <a:r>
              <a:rPr lang="en-US" dirty="0"/>
              <a:t>• Maintenance &amp; Technical Support – Requires skilled technicians for upkeep.</a:t>
            </a:r>
          </a:p>
          <a:p>
            <a:endParaRPr lang="en-US" dirty="0"/>
          </a:p>
          <a:p>
            <a:r>
              <a:rPr lang="en-US" dirty="0"/>
              <a:t>• Regional Adaptability – AI models must be tailored to local soil, crop, and climate conditions.</a:t>
            </a:r>
            <a:endParaRPr lang="en-IN" dirty="0"/>
          </a:p>
        </p:txBody>
      </p:sp>
      <p:sp>
        <p:nvSpPr>
          <p:cNvPr id="4" name="TextBox 3"/>
          <p:cNvSpPr txBox="1"/>
          <p:nvPr/>
        </p:nvSpPr>
        <p:spPr>
          <a:xfrm>
            <a:off x="529391" y="827112"/>
            <a:ext cx="6244388" cy="400110"/>
          </a:xfrm>
          <a:prstGeom prst="rect">
            <a:avLst/>
          </a:prstGeom>
          <a:noFill/>
        </p:spPr>
        <p:txBody>
          <a:bodyPr wrap="square" rtlCol="0">
            <a:spAutoFit/>
          </a:bodyPr>
          <a:lstStyle/>
          <a:p>
            <a:r>
              <a:rPr lang="en-IN" sz="2000" b="1" dirty="0"/>
              <a:t>Challenges of AI in agriculture</a:t>
            </a:r>
          </a:p>
        </p:txBody>
      </p:sp>
      <p:pic>
        <p:nvPicPr>
          <p:cNvPr id="5" name="Picture 4"/>
          <p:cNvPicPr>
            <a:picLocks noChangeAspect="1"/>
          </p:cNvPicPr>
          <p:nvPr/>
        </p:nvPicPr>
        <p:blipFill>
          <a:blip r:embed="rId2"/>
          <a:stretch>
            <a:fillRect/>
          </a:stretch>
        </p:blipFill>
        <p:spPr>
          <a:xfrm>
            <a:off x="7138737" y="-721896"/>
            <a:ext cx="5053264" cy="757989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637BF5-AD2D-06DC-034C-6D082F88DD7A}"/>
              </a:ext>
            </a:extLst>
          </p:cNvPr>
          <p:cNvSpPr txBox="1"/>
          <p:nvPr/>
        </p:nvSpPr>
        <p:spPr>
          <a:xfrm>
            <a:off x="168442" y="481264"/>
            <a:ext cx="4090737" cy="461665"/>
          </a:xfrm>
          <a:prstGeom prst="rect">
            <a:avLst/>
          </a:prstGeom>
          <a:noFill/>
        </p:spPr>
        <p:txBody>
          <a:bodyPr wrap="square" rtlCol="0">
            <a:spAutoFit/>
          </a:bodyPr>
          <a:lstStyle/>
          <a:p>
            <a:r>
              <a:rPr lang="en-IN" sz="2400" dirty="0"/>
              <a:t>Complete</a:t>
            </a:r>
            <a:r>
              <a:rPr lang="en-IN" dirty="0"/>
              <a:t> </a:t>
            </a:r>
            <a:r>
              <a:rPr lang="en-IN" sz="2400" dirty="0"/>
              <a:t>Details</a:t>
            </a:r>
            <a:r>
              <a:rPr lang="en-IN" dirty="0"/>
              <a:t> </a:t>
            </a:r>
            <a:r>
              <a:rPr lang="en-IN" sz="2400" dirty="0"/>
              <a:t>of Project</a:t>
            </a:r>
          </a:p>
        </p:txBody>
      </p:sp>
      <p:sp>
        <p:nvSpPr>
          <p:cNvPr id="4" name="TextBox 3">
            <a:extLst>
              <a:ext uri="{FF2B5EF4-FFF2-40B4-BE49-F238E27FC236}">
                <a16:creationId xmlns:a16="http://schemas.microsoft.com/office/drawing/2014/main" id="{7E1AB6E9-661E-CFBC-0E9C-BB059E9DDFA9}"/>
              </a:ext>
            </a:extLst>
          </p:cNvPr>
          <p:cNvSpPr txBox="1"/>
          <p:nvPr/>
        </p:nvSpPr>
        <p:spPr>
          <a:xfrm>
            <a:off x="421105" y="1034717"/>
            <a:ext cx="10984832" cy="5478423"/>
          </a:xfrm>
          <a:prstGeom prst="rect">
            <a:avLst/>
          </a:prstGeom>
          <a:noFill/>
        </p:spPr>
        <p:txBody>
          <a:bodyPr wrap="square">
            <a:spAutoFit/>
          </a:bodyPr>
          <a:lstStyle/>
          <a:p>
            <a:pPr marL="342900" indent="-342900">
              <a:buAutoNum type="arabicPeriod"/>
            </a:pPr>
            <a:r>
              <a:rPr lang="en-US" sz="2000" dirty="0"/>
              <a:t>Project</a:t>
            </a:r>
            <a:r>
              <a:rPr lang="en-US" dirty="0"/>
              <a:t> </a:t>
            </a:r>
            <a:r>
              <a:rPr lang="en-US" sz="2000" dirty="0"/>
              <a:t>Title</a:t>
            </a:r>
          </a:p>
          <a:p>
            <a:r>
              <a:rPr lang="en-US" dirty="0"/>
              <a:t>Smart Agriculture Using Artificial Intelligence</a:t>
            </a:r>
          </a:p>
          <a:p>
            <a:pPr marL="342900" indent="-342900">
              <a:buAutoNum type="arabicPeriod"/>
            </a:pPr>
            <a:endParaRPr lang="en-US" dirty="0"/>
          </a:p>
          <a:p>
            <a:r>
              <a:rPr lang="en-US" dirty="0"/>
              <a:t>2. </a:t>
            </a:r>
            <a:r>
              <a:rPr lang="en-US" sz="2000" dirty="0"/>
              <a:t>Project</a:t>
            </a:r>
            <a:r>
              <a:rPr lang="en-US" dirty="0"/>
              <a:t> </a:t>
            </a:r>
            <a:r>
              <a:rPr lang="en-US" sz="2000" dirty="0"/>
              <a:t>Aim</a:t>
            </a:r>
          </a:p>
          <a:p>
            <a:r>
              <a:rPr lang="en-US" dirty="0"/>
              <a:t>To improve agricultural productivity, reduce manual labor, and optimize resource usage by using AI to monitor crop health, predict yield, and detect pests or diseases early.</a:t>
            </a:r>
          </a:p>
          <a:p>
            <a:endParaRPr lang="en-US" dirty="0"/>
          </a:p>
          <a:p>
            <a:r>
              <a:rPr lang="en-US" dirty="0"/>
              <a:t>3. </a:t>
            </a:r>
            <a:r>
              <a:rPr lang="en-US" sz="2000" dirty="0"/>
              <a:t>Problem</a:t>
            </a:r>
            <a:r>
              <a:rPr lang="en-US" dirty="0"/>
              <a:t> </a:t>
            </a:r>
            <a:r>
              <a:rPr lang="en-US" sz="2000" dirty="0"/>
              <a:t>Statement</a:t>
            </a:r>
          </a:p>
          <a:p>
            <a:r>
              <a:rPr lang="en-US" dirty="0"/>
              <a:t>  Traditional agriculture faces challenges like</a:t>
            </a:r>
          </a:p>
          <a:p>
            <a:r>
              <a:rPr lang="en-US" dirty="0"/>
              <a:t>      •Crop diseases and pest attacks</a:t>
            </a:r>
          </a:p>
          <a:p>
            <a:r>
              <a:rPr lang="en-US" dirty="0"/>
              <a:t>      •Overuse or underuse of water and fertilizers</a:t>
            </a:r>
          </a:p>
          <a:p>
            <a:r>
              <a:rPr lang="en-US" dirty="0"/>
              <a:t>      •Unpredictable yields</a:t>
            </a:r>
          </a:p>
          <a:p>
            <a:r>
              <a:rPr lang="en-US" dirty="0"/>
              <a:t>      •Inefficient monitoring of crops over large areas</a:t>
            </a:r>
          </a:p>
          <a:p>
            <a:endParaRPr lang="en-US" dirty="0"/>
          </a:p>
          <a:p>
            <a:r>
              <a:rPr lang="en-US" dirty="0"/>
              <a:t>4. </a:t>
            </a:r>
            <a:r>
              <a:rPr lang="en-US" sz="2000" dirty="0"/>
              <a:t>Objectives</a:t>
            </a:r>
          </a:p>
          <a:p>
            <a:r>
              <a:rPr lang="en-US" dirty="0"/>
              <a:t>   •Detect crop diseases using image analysis.	</a:t>
            </a:r>
          </a:p>
          <a:p>
            <a:r>
              <a:rPr lang="en-US" dirty="0"/>
              <a:t>   •Predict crop yield based on environmental data.</a:t>
            </a:r>
          </a:p>
          <a:p>
            <a:r>
              <a:rPr lang="en-US" dirty="0"/>
              <a:t>   •Optimize irrigation and fertilizer usage.	</a:t>
            </a:r>
          </a:p>
          <a:p>
            <a:r>
              <a:rPr lang="en-US" dirty="0"/>
              <a:t>   •Provide real-time recommendations to farmers.</a:t>
            </a:r>
            <a:endParaRPr lang="en-IN" dirty="0"/>
          </a:p>
        </p:txBody>
      </p:sp>
    </p:spTree>
    <p:extLst>
      <p:ext uri="{BB962C8B-B14F-4D97-AF65-F5344CB8AC3E}">
        <p14:creationId xmlns:p14="http://schemas.microsoft.com/office/powerpoint/2010/main" val="21584744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A7D7257-DEF3-1ABD-2D01-4009F8F5B8FA}"/>
              </a:ext>
            </a:extLst>
          </p:cNvPr>
          <p:cNvSpPr txBox="1"/>
          <p:nvPr/>
        </p:nvSpPr>
        <p:spPr>
          <a:xfrm>
            <a:off x="132346" y="735495"/>
            <a:ext cx="6172201" cy="2031325"/>
          </a:xfrm>
          <a:prstGeom prst="rect">
            <a:avLst/>
          </a:prstGeom>
          <a:noFill/>
        </p:spPr>
        <p:txBody>
          <a:bodyPr wrap="square">
            <a:spAutoFit/>
          </a:bodyPr>
          <a:lstStyle/>
          <a:p>
            <a:r>
              <a:rPr lang="en-IN" dirty="0"/>
              <a:t>8.Tools &amp; Technologies:</a:t>
            </a:r>
          </a:p>
          <a:p>
            <a:endParaRPr lang="en-IN" dirty="0"/>
          </a:p>
          <a:p>
            <a:r>
              <a:rPr lang="en-IN" dirty="0"/>
              <a:t>•Programming Language: Python	</a:t>
            </a:r>
          </a:p>
          <a:p>
            <a:r>
              <a:rPr lang="en-IN" dirty="0"/>
              <a:t>•Libraries: TensorFlow, </a:t>
            </a:r>
            <a:r>
              <a:rPr lang="en-IN" dirty="0" err="1"/>
              <a:t>Keras</a:t>
            </a:r>
            <a:r>
              <a:rPr lang="en-IN" dirty="0"/>
              <a:t>, Scikit-learn, Pandas, OpenCV</a:t>
            </a:r>
          </a:p>
          <a:p>
            <a:r>
              <a:rPr lang="en-IN" dirty="0"/>
              <a:t>•Platform: </a:t>
            </a:r>
            <a:r>
              <a:rPr lang="en-IN" dirty="0" err="1"/>
              <a:t>Jupyter</a:t>
            </a:r>
            <a:r>
              <a:rPr lang="en-IN" dirty="0"/>
              <a:t> Notebook / Google </a:t>
            </a:r>
            <a:r>
              <a:rPr lang="en-IN" dirty="0" err="1"/>
              <a:t>Colab</a:t>
            </a:r>
            <a:r>
              <a:rPr lang="en-IN" dirty="0"/>
              <a:t>	•	Visualization: Matplotlib, Seaborn</a:t>
            </a:r>
          </a:p>
        </p:txBody>
      </p:sp>
      <p:sp>
        <p:nvSpPr>
          <p:cNvPr id="5" name="TextBox 4">
            <a:extLst>
              <a:ext uri="{FF2B5EF4-FFF2-40B4-BE49-F238E27FC236}">
                <a16:creationId xmlns:a16="http://schemas.microsoft.com/office/drawing/2014/main" id="{283DF79D-71E9-7481-7DD0-21E68828C258}"/>
              </a:ext>
            </a:extLst>
          </p:cNvPr>
          <p:cNvSpPr txBox="1"/>
          <p:nvPr/>
        </p:nvSpPr>
        <p:spPr>
          <a:xfrm>
            <a:off x="132346" y="2798519"/>
            <a:ext cx="8121317" cy="3416320"/>
          </a:xfrm>
          <a:prstGeom prst="rect">
            <a:avLst/>
          </a:prstGeom>
          <a:noFill/>
        </p:spPr>
        <p:txBody>
          <a:bodyPr wrap="square">
            <a:spAutoFit/>
          </a:bodyPr>
          <a:lstStyle/>
          <a:p>
            <a:r>
              <a:rPr lang="en-US" dirty="0"/>
              <a:t>9 Results</a:t>
            </a:r>
          </a:p>
          <a:p>
            <a:endParaRPr lang="en-US" dirty="0"/>
          </a:p>
          <a:p>
            <a:r>
              <a:rPr lang="en-US" dirty="0"/>
              <a:t>•Disease detection accuracy: ~95%</a:t>
            </a:r>
          </a:p>
          <a:p>
            <a:r>
              <a:rPr lang="en-US" dirty="0"/>
              <a:t>•Crop yield prediction MSE: low / acceptable</a:t>
            </a:r>
          </a:p>
          <a:p>
            <a:r>
              <a:rPr lang="en-US" dirty="0"/>
              <a:t>•Real-time alerts for farmers via dashboard</a:t>
            </a:r>
          </a:p>
          <a:p>
            <a:endParaRPr lang="en-US" dirty="0"/>
          </a:p>
          <a:p>
            <a:r>
              <a:rPr lang="en-US" dirty="0"/>
              <a:t>10. Conclusion (Up to Execution)</a:t>
            </a:r>
          </a:p>
          <a:p>
            <a:endParaRPr lang="en-US" dirty="0"/>
          </a:p>
          <a:p>
            <a:r>
              <a:rPr lang="en-US" dirty="0"/>
              <a:t>•Successfully built AI models for smart agriculture.</a:t>
            </a:r>
          </a:p>
          <a:p>
            <a:r>
              <a:rPr lang="en-US" dirty="0"/>
              <a:t>•Model can detect crop diseases and predict yield with high accuracy.</a:t>
            </a:r>
          </a:p>
          <a:p>
            <a:r>
              <a:rPr lang="en-US" dirty="0"/>
              <a:t>•Provides actionable insights to optimize farming practices.	</a:t>
            </a:r>
          </a:p>
          <a:p>
            <a:r>
              <a:rPr lang="en-US" dirty="0"/>
              <a:t>•Next steps: deploy as a mobile/web app for real-time farmer use.</a:t>
            </a:r>
            <a:endParaRPr lang="en-IN" dirty="0"/>
          </a:p>
        </p:txBody>
      </p:sp>
    </p:spTree>
    <p:extLst>
      <p:ext uri="{BB962C8B-B14F-4D97-AF65-F5344CB8AC3E}">
        <p14:creationId xmlns:p14="http://schemas.microsoft.com/office/powerpoint/2010/main" val="39080859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13547" y="3754053"/>
            <a:ext cx="8133347" cy="3139321"/>
          </a:xfrm>
          <a:prstGeom prst="rect">
            <a:avLst/>
          </a:prstGeom>
          <a:noFill/>
        </p:spPr>
        <p:txBody>
          <a:bodyPr wrap="square">
            <a:spAutoFit/>
          </a:bodyPr>
          <a:lstStyle/>
          <a:p>
            <a:endParaRPr lang="en-US" dirty="0"/>
          </a:p>
          <a:p>
            <a:r>
              <a:rPr lang="en-US" dirty="0"/>
              <a:t>	• AI is transforming agriculture by making farming smarter, faster, and more efficient.</a:t>
            </a:r>
          </a:p>
          <a:p>
            <a:r>
              <a:rPr lang="en-US" dirty="0"/>
              <a:t>	• Data-driven insights help farmers make better decisions and improve yields.</a:t>
            </a:r>
          </a:p>
          <a:p>
            <a:r>
              <a:rPr lang="en-US" dirty="0"/>
              <a:t>	• Sustainable practices through AI reduce resource wastage and environmental impact.</a:t>
            </a:r>
          </a:p>
          <a:p>
            <a:r>
              <a:rPr lang="en-US" dirty="0"/>
              <a:t>	• Collaboration of AI + Farmers is the key to solving global food challenges.</a:t>
            </a:r>
          </a:p>
          <a:p>
            <a:r>
              <a:rPr lang="en-US" dirty="0"/>
              <a:t>	• Future farming = Smart farming, ensuring food security for the growing population.</a:t>
            </a:r>
            <a:endParaRPr lang="en-IN" dirty="0"/>
          </a:p>
        </p:txBody>
      </p:sp>
      <p:sp>
        <p:nvSpPr>
          <p:cNvPr id="4" name="TextBox 3"/>
          <p:cNvSpPr txBox="1"/>
          <p:nvPr/>
        </p:nvSpPr>
        <p:spPr>
          <a:xfrm>
            <a:off x="101650" y="3903635"/>
            <a:ext cx="2011897" cy="400110"/>
          </a:xfrm>
          <a:prstGeom prst="rect">
            <a:avLst/>
          </a:prstGeom>
          <a:noFill/>
        </p:spPr>
        <p:txBody>
          <a:bodyPr wrap="none" rtlCol="0">
            <a:spAutoFit/>
          </a:bodyPr>
          <a:lstStyle/>
          <a:p>
            <a:r>
              <a:rPr lang="en-IN" sz="2000" b="1" dirty="0"/>
              <a:t>CONCLUSION</a:t>
            </a:r>
          </a:p>
        </p:txBody>
      </p:sp>
      <p:pic>
        <p:nvPicPr>
          <p:cNvPr id="6" name="Picture 5"/>
          <p:cNvPicPr>
            <a:picLocks noChangeAspect="1"/>
          </p:cNvPicPr>
          <p:nvPr/>
        </p:nvPicPr>
        <p:blipFill>
          <a:blip r:embed="rId2"/>
          <a:stretch>
            <a:fillRect/>
          </a:stretch>
        </p:blipFill>
        <p:spPr>
          <a:xfrm>
            <a:off x="0" y="-69913"/>
            <a:ext cx="12192000" cy="382396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2A2A34-5991-3610-8270-F60F0FFF855F}"/>
              </a:ext>
            </a:extLst>
          </p:cNvPr>
          <p:cNvSpPr txBox="1"/>
          <p:nvPr/>
        </p:nvSpPr>
        <p:spPr>
          <a:xfrm>
            <a:off x="2286000" y="596900"/>
            <a:ext cx="6604885" cy="3046988"/>
          </a:xfrm>
          <a:prstGeom prst="rect">
            <a:avLst/>
          </a:prstGeom>
          <a:noFill/>
        </p:spPr>
        <p:txBody>
          <a:bodyPr wrap="none" rtlCol="0">
            <a:spAutoFit/>
          </a:bodyPr>
          <a:lstStyle/>
          <a:p>
            <a:endParaRPr lang="en-IN" sz="9600" dirty="0"/>
          </a:p>
          <a:p>
            <a:r>
              <a:rPr lang="en-IN" sz="9600" dirty="0"/>
              <a:t>THANK YOU</a:t>
            </a:r>
          </a:p>
        </p:txBody>
      </p:sp>
    </p:spTree>
    <p:extLst>
      <p:ext uri="{BB962C8B-B14F-4D97-AF65-F5344CB8AC3E}">
        <p14:creationId xmlns:p14="http://schemas.microsoft.com/office/powerpoint/2010/main" val="214878120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136FBFD-CEAC-47B6-A2BE-91A1F1A46BB5}">
  <ds:schemaRefs/>
</ds:datastoreItem>
</file>

<file path=customXml/itemProps2.xml><?xml version="1.0" encoding="utf-8"?>
<ds:datastoreItem xmlns:ds="http://schemas.openxmlformats.org/officeDocument/2006/customXml" ds:itemID="{700FE38A-9F40-477F-8251-8026D8077432}">
  <ds:schemaRefs/>
</ds:datastoreItem>
</file>

<file path=customXml/itemProps3.xml><?xml version="1.0" encoding="utf-8"?>
<ds:datastoreItem xmlns:ds="http://schemas.openxmlformats.org/officeDocument/2006/customXml" ds:itemID="{AAA64C4C-1C1A-4AD5-A45E-ACC15888C1D7}">
  <ds:schemaRefs/>
</ds:datastoreItem>
</file>

<file path=docProps/app.xml><?xml version="1.0" encoding="utf-8"?>
<Properties xmlns="http://schemas.openxmlformats.org/officeDocument/2006/extended-properties" xmlns:vt="http://schemas.openxmlformats.org/officeDocument/2006/docPropsVTypes">
  <Template>Facet</Template>
  <TotalTime>350</TotalTime>
  <Words>1956</Words>
  <Application>Microsoft Office PowerPoint</Application>
  <PresentationFormat>Widescreen</PresentationFormat>
  <Paragraphs>245</Paragraphs>
  <Slides>19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Meiryo</vt:lpstr>
      <vt:lpstr>Arial</vt:lpstr>
      <vt:lpstr>Calibri</vt:lpstr>
      <vt:lpstr>Courier New</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keertghana reddy</dc:creator>
  <cp:lastModifiedBy>keertghana reddy</cp:lastModifiedBy>
  <cp:revision>10</cp:revision>
  <dcterms:created xsi:type="dcterms:W3CDTF">2025-08-25T08:05:00Z</dcterms:created>
  <dcterms:modified xsi:type="dcterms:W3CDTF">2025-10-22T18:47:40Z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5B842A8D90964FD6889171AE2297A50A_12</vt:lpwstr>
  </property>
  <property fmtid="{D5CDD505-2E9C-101B-9397-08002B2CF9AE}" pid="4" name="KSOProductBuildVer">
    <vt:lpwstr>1033-12.2.0.22222</vt:lpwstr>
  </property>
</Properties>
</file>